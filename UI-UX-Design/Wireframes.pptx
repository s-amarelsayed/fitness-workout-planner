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822960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300" b="1">
                <a:solidFill>
                  <a:srgbClr val="1C252B"/>
                </a:solidFill>
                <a:latin typeface="Aptos"/>
              </a:defRPr>
            </a:pPr>
            <a:r>
              <a:t>Landing Page  /  Desktop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292608"/>
            <a:ext cx="1737360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000" b="1">
                <a:solidFill>
                  <a:srgbClr val="5B6973"/>
                </a:solidFill>
                <a:latin typeface="Aptos"/>
              </a:defRPr>
            </a:pPr>
            <a:r>
              <a:t>ESLAM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57784" y="722376"/>
            <a:ext cx="11082528" cy="22860"/>
          </a:xfrm>
          <a:prstGeom prst="rect">
            <a:avLst/>
          </a:prstGeom>
          <a:solidFill>
            <a:srgbClr val="B6B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905256"/>
            <a:ext cx="11100816" cy="5641848"/>
          </a:xfrm>
          <a:prstGeom prst="roundRect">
            <a:avLst>
              <a:gd name="adj" fmla="val 12000"/>
            </a:avLst>
          </a:prstGeom>
          <a:solidFill>
            <a:srgbClr val="F5F6F7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987552"/>
            <a:ext cx="10954512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3" y="1097280"/>
            <a:ext cx="1463040" cy="32004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700" b="1">
                <a:solidFill>
                  <a:srgbClr val="9AA3AA"/>
                </a:solidFill>
                <a:latin typeface="Aptos"/>
              </a:defRPr>
            </a:pPr>
            <a:r>
              <a:t>FitTrack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8568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Home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3547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8526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Exercises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3506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My Routine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78485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83465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Profile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88444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Login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066543"/>
            <a:ext cx="5230368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100" b="1">
                <a:solidFill>
                  <a:srgbClr val="9AA3AA"/>
                </a:solidFill>
                <a:latin typeface="Aptos"/>
              </a:defRPr>
            </a:pPr>
            <a:r>
              <a:t>YOUR FITNESS JOURNEY STARTS HERE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596896"/>
            <a:ext cx="5753404" cy="9601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3200" b="1">
                <a:solidFill>
                  <a:srgbClr val="222930"/>
                </a:solidFill>
                <a:latin typeface="Aptos"/>
              </a:defRPr>
            </a:pPr>
            <a:r>
              <a:t>Train Smarter.</a:t>
            </a:r>
          </a:p>
          <a:p>
            <a:pPr>
              <a:defRPr sz="3200" b="1">
                <a:solidFill>
                  <a:srgbClr val="222930"/>
                </a:solidFill>
                <a:latin typeface="Aptos"/>
              </a:defRPr>
            </a:pPr>
            <a:r>
              <a:t>Get Stronger.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694176"/>
            <a:ext cx="5021153" cy="5029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200" b="0">
                <a:solidFill>
                  <a:srgbClr val="77828B"/>
                </a:solidFill>
                <a:latin typeface="Aptos"/>
              </a:defRPr>
            </a:pPr>
            <a:r>
              <a:t>Plan your workouts, explore new exercises,</a:t>
            </a:r>
          </a:p>
          <a:p>
            <a:pPr>
              <a:defRPr sz="1200" b="0">
                <a:solidFill>
                  <a:srgbClr val="77828B"/>
                </a:solidFill>
                <a:latin typeface="Aptos"/>
              </a:defRPr>
            </a:pPr>
            <a:r>
              <a:t>and track your fitness progress.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4443983"/>
            <a:ext cx="1490472" cy="347472"/>
          </a:xfrm>
          <a:prstGeom prst="roundRect">
            <a:avLst>
              <a:gd name="adj" fmla="val 12000"/>
            </a:avLst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503420"/>
            <a:ext cx="1490472" cy="31089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Get Started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14600" y="4443983"/>
            <a:ext cx="1755648" cy="3474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9AA3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14600" y="4503420"/>
            <a:ext cx="1755648" cy="31089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1">
                <a:solidFill>
                  <a:srgbClr val="9AA3AA"/>
                </a:solidFill>
                <a:latin typeface="Aptos"/>
              </a:defRPr>
            </a:pPr>
            <a:r>
              <a:t>Explore Exercises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45121" y="2176272"/>
            <a:ext cx="4184294" cy="25237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54336" y="2377440"/>
            <a:ext cx="3661257" cy="29260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200" b="1">
                <a:solidFill>
                  <a:srgbClr val="9AA3AA"/>
                </a:solidFill>
                <a:latin typeface="Aptos"/>
              </a:defRPr>
            </a:pPr>
            <a:r>
              <a:t>YOUR WEEKLY PROGRESS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4336" y="2779776"/>
            <a:ext cx="2510576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Workouts Completed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60305" y="2779776"/>
            <a:ext cx="1255288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000" b="1">
                <a:solidFill>
                  <a:srgbClr val="9AA3AA"/>
                </a:solidFill>
                <a:latin typeface="Aptos"/>
              </a:defRPr>
            </a:pPr>
            <a:r>
              <a:t>24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54336" y="3099816"/>
            <a:ext cx="3556650" cy="109728"/>
          </a:xfrm>
          <a:prstGeom prst="roundRect">
            <a:avLst>
              <a:gd name="adj" fmla="val 12000"/>
            </a:avLst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354336" y="3099816"/>
            <a:ext cx="2845320" cy="109728"/>
          </a:xfrm>
          <a:prstGeom prst="roundRect">
            <a:avLst>
              <a:gd name="adj" fmla="val 12000"/>
            </a:avLst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54336" y="3374136"/>
            <a:ext cx="2510576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Weekly Goal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60305" y="3374136"/>
            <a:ext cx="1255288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000" b="1">
                <a:solidFill>
                  <a:srgbClr val="9AA3AA"/>
                </a:solidFill>
                <a:latin typeface="Aptos"/>
              </a:defRPr>
            </a:pPr>
            <a:r>
              <a:t>5 / 6 Days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54336" y="3694176"/>
            <a:ext cx="3556650" cy="109728"/>
          </a:xfrm>
          <a:prstGeom prst="roundRect">
            <a:avLst>
              <a:gd name="adj" fmla="val 12000"/>
            </a:avLst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354336" y="3694176"/>
            <a:ext cx="2952019" cy="109728"/>
          </a:xfrm>
          <a:prstGeom prst="roundRect">
            <a:avLst>
              <a:gd name="adj" fmla="val 12000"/>
            </a:avLst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54336" y="3968496"/>
            <a:ext cx="2510576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Active Streak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60305" y="3968496"/>
            <a:ext cx="1255288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000" b="1">
                <a:solidFill>
                  <a:srgbClr val="9AA3AA"/>
                </a:solidFill>
                <a:latin typeface="Aptos"/>
              </a:defRPr>
            </a:pPr>
            <a:r>
              <a:t>7 Days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54336" y="4288536"/>
            <a:ext cx="3556650" cy="109728"/>
          </a:xfrm>
          <a:prstGeom prst="roundRect">
            <a:avLst>
              <a:gd name="adj" fmla="val 12000"/>
            </a:avLst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354336" y="4288536"/>
            <a:ext cx="2489655" cy="109728"/>
          </a:xfrm>
          <a:prstGeom prst="roundRect">
            <a:avLst>
              <a:gd name="adj" fmla="val 12000"/>
            </a:avLst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184648"/>
            <a:ext cx="10460736" cy="32004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900" b="1">
                <a:solidFill>
                  <a:srgbClr val="222930"/>
                </a:solidFill>
                <a:latin typeface="Aptos"/>
              </a:defRPr>
            </a:pPr>
            <a:r>
              <a:t>Everything You Need to Improve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68680" y="5623560"/>
            <a:ext cx="3340608" cy="10607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33271" y="5833872"/>
            <a:ext cx="3066288" cy="28346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1">
                <a:solidFill>
                  <a:srgbClr val="222930"/>
                </a:solidFill>
                <a:latin typeface="Aptos"/>
              </a:defRPr>
            </a:pPr>
            <a:r>
              <a:t>Exercise Library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3271" y="6217920"/>
            <a:ext cx="3066288" cy="29260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77828B"/>
                </a:solidFill>
                <a:latin typeface="Aptos"/>
              </a:defRPr>
            </a:pPr>
            <a:r>
              <a:t>Simple tools for your fitness goals.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373880" y="5623560"/>
            <a:ext cx="3340608" cy="10607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38472" y="5833872"/>
            <a:ext cx="3066288" cy="28346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1">
                <a:solidFill>
                  <a:srgbClr val="222930"/>
                </a:solidFill>
                <a:latin typeface="Aptos"/>
              </a:defRPr>
            </a:pPr>
            <a:r>
              <a:t>Workout Planner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38472" y="6217920"/>
            <a:ext cx="3066288" cy="29260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77828B"/>
                </a:solidFill>
                <a:latin typeface="Aptos"/>
              </a:defRPr>
            </a:pPr>
            <a:r>
              <a:t>Simple tools for your fitness goals.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79080" y="5623560"/>
            <a:ext cx="3340608" cy="10607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43672" y="5833872"/>
            <a:ext cx="3066288" cy="28346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1">
                <a:solidFill>
                  <a:srgbClr val="222930"/>
                </a:solidFill>
                <a:latin typeface="Aptos"/>
              </a:defRPr>
            </a:pPr>
            <a:r>
              <a:t>Track Progress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43672" y="6217920"/>
            <a:ext cx="3066288" cy="29260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77828B"/>
                </a:solidFill>
                <a:latin typeface="Aptos"/>
              </a:defRPr>
            </a:pPr>
            <a:r>
              <a:t>Simple tools for your fitness goals.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6072" y="6611112"/>
            <a:ext cx="8229600" cy="13716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0">
                <a:solidFill>
                  <a:srgbClr val="65717A"/>
                </a:solidFill>
                <a:latin typeface="Aptos"/>
              </a:defRPr>
            </a:pPr>
            <a:r>
              <a:t>FITTRACK / WIREFRAMES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822960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300" b="1">
                <a:solidFill>
                  <a:srgbClr val="1C252B"/>
                </a:solidFill>
                <a:latin typeface="Aptos"/>
              </a:defRPr>
            </a:pPr>
            <a:r>
              <a:t>Landing Page  /  Mobile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292608"/>
            <a:ext cx="1737360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000" b="1">
                <a:solidFill>
                  <a:srgbClr val="5B6973"/>
                </a:solidFill>
                <a:latin typeface="Aptos"/>
              </a:defRPr>
            </a:pPr>
            <a:r>
              <a:t>ESLAM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57784" y="722376"/>
            <a:ext cx="11082528" cy="22860"/>
          </a:xfrm>
          <a:prstGeom prst="rect">
            <a:avLst/>
          </a:prstGeom>
          <a:solidFill>
            <a:srgbClr val="B6B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51960" y="905256"/>
            <a:ext cx="3675887" cy="5650992"/>
          </a:xfrm>
          <a:prstGeom prst="roundRect">
            <a:avLst>
              <a:gd name="adj" fmla="val 12000"/>
            </a:avLst>
          </a:prstGeom>
          <a:solidFill>
            <a:srgbClr val="F5F6F7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34256" y="996696"/>
            <a:ext cx="3511295" cy="4297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1416" y="1097280"/>
            <a:ext cx="1645920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9AA3AA"/>
                </a:solidFill>
                <a:latin typeface="Aptos"/>
              </a:defRPr>
            </a:pPr>
            <a:r>
              <a:t>FitTrack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106424"/>
            <a:ext cx="310896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500" b="1">
                <a:solidFill>
                  <a:srgbClr val="222930"/>
                </a:solidFill>
                <a:latin typeface="Aptos"/>
              </a:defRPr>
            </a:pPr>
            <a:r>
              <a:t>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2907792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65727C"/>
                </a:solidFill>
                <a:latin typeface="Aptos"/>
              </a:defRPr>
            </a:pPr>
            <a:r>
              <a:t>MOBILE VERSION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11680"/>
            <a:ext cx="2926080" cy="10972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0">
                <a:solidFill>
                  <a:srgbClr val="64717B"/>
                </a:solidFill>
                <a:latin typeface="Aptos"/>
              </a:defRPr>
            </a:pPr>
            <a:r>
              <a:t>Single-column layout</a:t>
            </a:r>
          </a:p>
          <a:p>
            <a:pPr>
              <a:defRPr sz="1300" b="0">
                <a:solidFill>
                  <a:srgbClr val="64717B"/>
                </a:solidFill>
                <a:latin typeface="Aptos"/>
              </a:defRPr>
            </a:pPr>
            <a:r>
              <a:t>Touch-friendly controls</a:t>
            </a:r>
          </a:p>
          <a:p>
            <a:pPr>
              <a:defRPr sz="1300" b="0">
                <a:solidFill>
                  <a:srgbClr val="64717B"/>
                </a:solidFill>
                <a:latin typeface="Aptos"/>
              </a:defRPr>
            </a:pPr>
            <a:r>
              <a:t>Compact navigation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1463040"/>
            <a:ext cx="292608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65727C"/>
                </a:solidFill>
                <a:latin typeface="Aptos"/>
              </a:defRPr>
            </a:pPr>
            <a:r>
              <a:t>SCREEN CONTENT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94192" y="2011680"/>
            <a:ext cx="2788920" cy="11887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0">
                <a:solidFill>
                  <a:srgbClr val="64717B"/>
                </a:solidFill>
                <a:latin typeface="Aptos"/>
              </a:defRPr>
            </a:pPr>
            <a:r>
              <a:t>The same information is reorganized for small screens.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5696" y="1609344"/>
            <a:ext cx="3328415" cy="29260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1">
                <a:solidFill>
                  <a:srgbClr val="9AA3AA"/>
                </a:solidFill>
                <a:latin typeface="Aptos"/>
              </a:defRPr>
            </a:pPr>
            <a:r>
              <a:t>YOUR FITNESS JOURNEY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696" y="1929384"/>
            <a:ext cx="3328415" cy="9601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300" b="1">
                <a:solidFill>
                  <a:srgbClr val="222930"/>
                </a:solidFill>
                <a:latin typeface="Aptos"/>
              </a:defRPr>
            </a:pPr>
            <a:r>
              <a:t>Train Smarter.</a:t>
            </a:r>
          </a:p>
          <a:p>
            <a:pPr>
              <a:defRPr sz="2300" b="1">
                <a:solidFill>
                  <a:srgbClr val="222930"/>
                </a:solidFill>
                <a:latin typeface="Aptos"/>
              </a:defRPr>
            </a:pPr>
            <a:r>
              <a:t>Get Stronger.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696" y="2980944"/>
            <a:ext cx="3328415" cy="4572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Plan workouts and track your progress.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25696" y="3483863"/>
            <a:ext cx="1207008" cy="347472"/>
          </a:xfrm>
          <a:prstGeom prst="roundRect">
            <a:avLst>
              <a:gd name="adj" fmla="val 12000"/>
            </a:avLst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25696" y="3543299"/>
            <a:ext cx="1207008" cy="31089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Get Started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24144" y="3483863"/>
            <a:ext cx="1353312" cy="3474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9AA3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24144" y="3543299"/>
            <a:ext cx="1353312" cy="31089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1">
                <a:solidFill>
                  <a:srgbClr val="9AA3AA"/>
                </a:solidFill>
                <a:latin typeface="Aptos"/>
              </a:defRPr>
            </a:pPr>
            <a:r>
              <a:t>Exercises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25696" y="4078224"/>
            <a:ext cx="3328415" cy="12070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90288" y="4206240"/>
            <a:ext cx="2999232" cy="24688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1">
                <a:solidFill>
                  <a:srgbClr val="9AA3AA"/>
                </a:solidFill>
                <a:latin typeface="Aptos"/>
              </a:defRPr>
            </a:pPr>
            <a:r>
              <a:t>WEEKLY PROGRESS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0288" y="4535424"/>
            <a:ext cx="2999232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100" b="1">
                <a:solidFill>
                  <a:srgbClr val="222930"/>
                </a:solidFill>
                <a:latin typeface="Aptos"/>
              </a:defRPr>
            </a:pPr>
            <a:r>
              <a:t>5 of 6 workout days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90288" y="4892040"/>
            <a:ext cx="2999232" cy="118872"/>
          </a:xfrm>
          <a:prstGeom prst="roundRect">
            <a:avLst>
              <a:gd name="adj" fmla="val 12000"/>
            </a:avLst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90288" y="4892040"/>
            <a:ext cx="2489362" cy="118872"/>
          </a:xfrm>
          <a:prstGeom prst="roundRect">
            <a:avLst>
              <a:gd name="adj" fmla="val 12000"/>
            </a:avLst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25696" y="5486400"/>
            <a:ext cx="3328415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400" b="1">
                <a:solidFill>
                  <a:srgbClr val="222930"/>
                </a:solidFill>
                <a:latin typeface="Aptos"/>
              </a:defRPr>
            </a:pPr>
            <a:r>
              <a:t>Explore FitTrack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25696" y="5843016"/>
            <a:ext cx="3328415" cy="365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35424" y="5907024"/>
            <a:ext cx="3145535" cy="21945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1">
                <a:solidFill>
                  <a:srgbClr val="222930"/>
                </a:solidFill>
                <a:latin typeface="Aptos"/>
              </a:defRPr>
            </a:pPr>
            <a:r>
              <a:t>Exercise Library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25696" y="6281927"/>
            <a:ext cx="3328415" cy="365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35424" y="6345936"/>
            <a:ext cx="3145535" cy="21945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1">
                <a:solidFill>
                  <a:srgbClr val="222930"/>
                </a:solidFill>
                <a:latin typeface="Aptos"/>
              </a:defRPr>
            </a:pPr>
            <a:r>
              <a:t>Workout Planner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25696" y="6720840"/>
            <a:ext cx="3328415" cy="365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35424" y="6784848"/>
            <a:ext cx="3145535" cy="21945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1">
                <a:solidFill>
                  <a:srgbClr val="222930"/>
                </a:solidFill>
                <a:latin typeface="Aptos"/>
              </a:defRPr>
            </a:pPr>
            <a:r>
              <a:t>Track Progress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72" y="6611112"/>
            <a:ext cx="8229600" cy="13716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0">
                <a:solidFill>
                  <a:srgbClr val="65717A"/>
                </a:solidFill>
                <a:latin typeface="Aptos"/>
              </a:defRPr>
            </a:pPr>
            <a:r>
              <a:t>FITTRACK / WIREFRAMES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822960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300" b="1">
                <a:solidFill>
                  <a:srgbClr val="1C252B"/>
                </a:solidFill>
                <a:latin typeface="Aptos"/>
              </a:defRPr>
            </a:pPr>
            <a:r>
              <a:t>Dashboard  /  Desktop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292608"/>
            <a:ext cx="1737360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000" b="1">
                <a:solidFill>
                  <a:srgbClr val="5B6973"/>
                </a:solidFill>
                <a:latin typeface="Aptos"/>
              </a:defRPr>
            </a:pPr>
            <a:r>
              <a:t>AMMAR</a:t>
            </a:r>
          </a:p>
        </p:txBody>
      </p:sp>
      <p:sp>
        <p:nvSpPr>
          <p:cNvPr id="5" name="Rectangle 4"/>
          <p:cNvSpPr/>
          <p:nvPr/>
        </p:nvSpPr>
        <p:spPr>
          <a:xfrm>
            <a:off x="557784" y="722376"/>
            <a:ext cx="11082528" cy="22860"/>
          </a:xfrm>
          <a:prstGeom prst="rect">
            <a:avLst/>
          </a:prstGeom>
          <a:solidFill>
            <a:srgbClr val="B6B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905256"/>
            <a:ext cx="11100816" cy="5641848"/>
          </a:xfrm>
          <a:prstGeom prst="roundRect">
            <a:avLst>
              <a:gd name="adj" fmla="val 12000"/>
            </a:avLst>
          </a:prstGeom>
          <a:solidFill>
            <a:srgbClr val="F5F6F7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987552"/>
            <a:ext cx="10954512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3" y="1097280"/>
            <a:ext cx="1463040" cy="32004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700" b="1">
                <a:solidFill>
                  <a:srgbClr val="9AA3AA"/>
                </a:solidFill>
                <a:latin typeface="Aptos"/>
              </a:defRPr>
            </a:pPr>
            <a:r>
              <a:t>FitTrack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8568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Home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3547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1">
                <a:solidFill>
                  <a:srgbClr val="9AA3AA"/>
                </a:solidFill>
                <a:latin typeface="Aptos"/>
              </a:defRPr>
            </a:pPr>
            <a:r>
              <a:t>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8526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Exercises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3506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My Routine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78485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83465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Profile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88444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Login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1755648"/>
            <a:ext cx="5486400" cy="31089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100" b="1">
                <a:solidFill>
                  <a:srgbClr val="222930"/>
                </a:solidFill>
                <a:latin typeface="Aptos"/>
              </a:defRPr>
            </a:pPr>
            <a:r>
              <a:t>Dashboard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130552"/>
            <a:ext cx="6400800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Track your workouts and progress.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2569464"/>
            <a:ext cx="3331464" cy="9326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2569464"/>
            <a:ext cx="3331464" cy="45720"/>
          </a:xfrm>
          <a:prstGeom prst="rect">
            <a:avLst/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7" y="2734056"/>
            <a:ext cx="3057144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Total Workouts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7" y="2999232"/>
            <a:ext cx="3057144" cy="39319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400" b="1">
                <a:solidFill>
                  <a:srgbClr val="9AA3AA"/>
                </a:solidFill>
                <a:latin typeface="Aptos"/>
              </a:defRPr>
            </a:pPr>
            <a:r>
              <a:t>24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10456" y="2569464"/>
            <a:ext cx="3331464" cy="9326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10456" y="2569464"/>
            <a:ext cx="3331464" cy="45720"/>
          </a:xfrm>
          <a:prstGeom prst="rect">
            <a:avLst/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65904" y="2734056"/>
            <a:ext cx="3057144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Active Streak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5904" y="2999232"/>
            <a:ext cx="3057144" cy="39319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400" b="1">
                <a:solidFill>
                  <a:srgbClr val="9AA3AA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52232" y="2569464"/>
            <a:ext cx="3331464" cy="9326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52232" y="2569464"/>
            <a:ext cx="3331464" cy="45720"/>
          </a:xfrm>
          <a:prstGeom prst="rect">
            <a:avLst/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07680" y="2734056"/>
            <a:ext cx="3057144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Calories Burned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07680" y="2999232"/>
            <a:ext cx="3057144" cy="39319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400" b="1">
                <a:solidFill>
                  <a:srgbClr val="9AA3AA"/>
                </a:solidFill>
                <a:latin typeface="Aptos"/>
              </a:defRPr>
            </a:pPr>
            <a:r>
              <a:t>4,850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" y="3721608"/>
            <a:ext cx="6171834" cy="22494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249728" y="3721608"/>
            <a:ext cx="4079687" cy="22494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2415" y="3877056"/>
            <a:ext cx="5230368" cy="25603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400" b="1">
                <a:solidFill>
                  <a:srgbClr val="222930"/>
                </a:solidFill>
                <a:latin typeface="Aptos"/>
              </a:defRPr>
            </a:pPr>
            <a:r>
              <a:t>Weekly Activity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16152" y="5060655"/>
            <a:ext cx="292608" cy="535472"/>
          </a:xfrm>
          <a:prstGeom prst="rect">
            <a:avLst/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97864" y="5669280"/>
            <a:ext cx="384048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900" b="0">
                <a:solidFill>
                  <a:srgbClr val="77828B"/>
                </a:solidFill>
                <a:latin typeface="Aptos"/>
              </a:defRPr>
            </a:pPr>
            <a:r>
              <a:t>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993235" y="4792919"/>
            <a:ext cx="292608" cy="803208"/>
          </a:xfrm>
          <a:prstGeom prst="rect">
            <a:avLst/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74947" y="5669280"/>
            <a:ext cx="384048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900" b="0">
                <a:solidFill>
                  <a:srgbClr val="77828B"/>
                </a:solidFill>
                <a:latin typeface="Aptos"/>
              </a:defRPr>
            </a:pPr>
            <a:r>
              <a:t>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70318" y="4926787"/>
            <a:ext cx="292608" cy="669340"/>
          </a:xfrm>
          <a:prstGeom prst="rect">
            <a:avLst/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52030" y="5669280"/>
            <a:ext cx="384048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900" b="0">
                <a:solidFill>
                  <a:srgbClr val="77828B"/>
                </a:solidFill>
                <a:latin typeface="Aptos"/>
              </a:defRPr>
            </a:pPr>
            <a:r>
              <a:t>W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7401" y="4592116"/>
            <a:ext cx="292608" cy="1004011"/>
          </a:xfrm>
          <a:prstGeom prst="rect">
            <a:avLst/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529113" y="5669280"/>
            <a:ext cx="384048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900" b="0">
                <a:solidFill>
                  <a:srgbClr val="77828B"/>
                </a:solidFill>
                <a:latin typeface="Aptos"/>
              </a:defRPr>
            </a:pPr>
            <a:r>
              <a:t>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4484" y="4837541"/>
            <a:ext cx="292608" cy="758586"/>
          </a:xfrm>
          <a:prstGeom prst="rect">
            <a:avLst/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06196" y="5669280"/>
            <a:ext cx="384048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900" b="0">
                <a:solidFill>
                  <a:srgbClr val="77828B"/>
                </a:solidFill>
                <a:latin typeface="Aptos"/>
              </a:defRPr>
            </a:pPr>
            <a:r>
              <a:t>F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101568" y="4480560"/>
            <a:ext cx="292608" cy="1115568"/>
          </a:xfrm>
          <a:prstGeom prst="rect">
            <a:avLst/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83280" y="5669280"/>
            <a:ext cx="384048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900" b="0">
                <a:solidFill>
                  <a:srgbClr val="77828B"/>
                </a:solidFill>
                <a:latin typeface="Aptos"/>
              </a:defRPr>
            </a:pPr>
            <a:r>
              <a:t>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78651" y="5149900"/>
            <a:ext cx="292608" cy="446227"/>
          </a:xfrm>
          <a:prstGeom prst="rect">
            <a:avLst/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860363" y="5669280"/>
            <a:ext cx="384048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900" b="0">
                <a:solidFill>
                  <a:srgbClr val="77828B"/>
                </a:solidFill>
                <a:latin typeface="Aptos"/>
              </a:defRPr>
            </a:pPr>
            <a:r>
              <a:t>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58943" y="3877056"/>
            <a:ext cx="3556650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400" b="1">
                <a:solidFill>
                  <a:srgbClr val="222930"/>
                </a:solidFill>
                <a:latin typeface="Aptos"/>
              </a:defRPr>
            </a:pPr>
            <a:r>
              <a:t>Muscle Distribution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63551" y="4443983"/>
            <a:ext cx="1097280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Chest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923446" y="4489704"/>
            <a:ext cx="1882932" cy="91440"/>
          </a:xfrm>
          <a:prstGeom prst="roundRect">
            <a:avLst>
              <a:gd name="adj" fmla="val 12000"/>
            </a:avLst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923446" y="4489704"/>
            <a:ext cx="659026" cy="91440"/>
          </a:xfrm>
          <a:prstGeom prst="roundRect">
            <a:avLst>
              <a:gd name="adj" fmla="val 12000"/>
            </a:avLst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63551" y="4782312"/>
            <a:ext cx="1097280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Legs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923446" y="4828032"/>
            <a:ext cx="1882932" cy="91440"/>
          </a:xfrm>
          <a:prstGeom prst="roundRect">
            <a:avLst>
              <a:gd name="adj" fmla="val 12000"/>
            </a:avLst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8923446" y="4828032"/>
            <a:ext cx="564879" cy="91440"/>
          </a:xfrm>
          <a:prstGeom prst="roundRect">
            <a:avLst>
              <a:gd name="adj" fmla="val 12000"/>
            </a:avLst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563551" y="5120640"/>
            <a:ext cx="1097280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Back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923446" y="5166360"/>
            <a:ext cx="1882932" cy="91440"/>
          </a:xfrm>
          <a:prstGeom prst="roundRect">
            <a:avLst>
              <a:gd name="adj" fmla="val 12000"/>
            </a:avLst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8923446" y="5166360"/>
            <a:ext cx="376586" cy="91440"/>
          </a:xfrm>
          <a:prstGeom prst="roundRect">
            <a:avLst>
              <a:gd name="adj" fmla="val 12000"/>
            </a:avLst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63551" y="5458967"/>
            <a:ext cx="1097280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Shoulders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923446" y="5504688"/>
            <a:ext cx="1882932" cy="91440"/>
          </a:xfrm>
          <a:prstGeom prst="roundRect">
            <a:avLst>
              <a:gd name="adj" fmla="val 12000"/>
            </a:avLst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8923446" y="5504688"/>
            <a:ext cx="282439" cy="91440"/>
          </a:xfrm>
          <a:prstGeom prst="roundRect">
            <a:avLst>
              <a:gd name="adj" fmla="val 12000"/>
            </a:avLst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68680" y="6236208"/>
            <a:ext cx="10460736" cy="24688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222930"/>
                </a:solidFill>
                <a:latin typeface="Aptos"/>
              </a:defRPr>
            </a:pPr>
            <a:r>
              <a:t>Recent Workouts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68680" y="6574536"/>
            <a:ext cx="3331464" cy="4846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33271" y="6720840"/>
            <a:ext cx="3240024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100" b="1">
                <a:solidFill>
                  <a:srgbClr val="222930"/>
                </a:solidFill>
                <a:latin typeface="Aptos"/>
              </a:defRPr>
            </a:pPr>
            <a:r>
              <a:t>Chest Press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419600" y="6574536"/>
            <a:ext cx="3331464" cy="4846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84192" y="6720840"/>
            <a:ext cx="3240024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100" b="1">
                <a:solidFill>
                  <a:srgbClr val="222930"/>
                </a:solidFill>
                <a:latin typeface="Aptos"/>
              </a:defRPr>
            </a:pPr>
            <a:r>
              <a:t>Squats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970520" y="6574536"/>
            <a:ext cx="3331464" cy="4846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135112" y="6720840"/>
            <a:ext cx="3240024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100" b="1">
                <a:solidFill>
                  <a:srgbClr val="222930"/>
                </a:solidFill>
                <a:latin typeface="Aptos"/>
              </a:defRPr>
            </a:pPr>
            <a:r>
              <a:t>T-Bar Row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76072" y="6611112"/>
            <a:ext cx="8229600" cy="13716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0">
                <a:solidFill>
                  <a:srgbClr val="65717A"/>
                </a:solidFill>
                <a:latin typeface="Aptos"/>
              </a:defRPr>
            </a:pPr>
            <a:r>
              <a:t>FITTRACK / WIREFRAMES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822960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300" b="1">
                <a:solidFill>
                  <a:srgbClr val="1C252B"/>
                </a:solidFill>
                <a:latin typeface="Aptos"/>
              </a:defRPr>
            </a:pPr>
            <a:r>
              <a:t>Dashboard  /  Mobile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292608"/>
            <a:ext cx="1737360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000" b="1">
                <a:solidFill>
                  <a:srgbClr val="5B6973"/>
                </a:solidFill>
                <a:latin typeface="Aptos"/>
              </a:defRPr>
            </a:pPr>
            <a:r>
              <a:t>AMMAR</a:t>
            </a:r>
          </a:p>
        </p:txBody>
      </p:sp>
      <p:sp>
        <p:nvSpPr>
          <p:cNvPr id="5" name="Rectangle 4"/>
          <p:cNvSpPr/>
          <p:nvPr/>
        </p:nvSpPr>
        <p:spPr>
          <a:xfrm>
            <a:off x="557784" y="722376"/>
            <a:ext cx="11082528" cy="22860"/>
          </a:xfrm>
          <a:prstGeom prst="rect">
            <a:avLst/>
          </a:prstGeom>
          <a:solidFill>
            <a:srgbClr val="B6B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51960" y="905256"/>
            <a:ext cx="3675887" cy="5650992"/>
          </a:xfrm>
          <a:prstGeom prst="roundRect">
            <a:avLst>
              <a:gd name="adj" fmla="val 12000"/>
            </a:avLst>
          </a:prstGeom>
          <a:solidFill>
            <a:srgbClr val="F5F6F7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34256" y="996696"/>
            <a:ext cx="3511295" cy="4297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1416" y="1097280"/>
            <a:ext cx="1645920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9AA3AA"/>
                </a:solidFill>
                <a:latin typeface="Aptos"/>
              </a:defRPr>
            </a:pPr>
            <a:r>
              <a:t>FitTrack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106424"/>
            <a:ext cx="310896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500" b="1">
                <a:solidFill>
                  <a:srgbClr val="222930"/>
                </a:solidFill>
                <a:latin typeface="Aptos"/>
              </a:defRPr>
            </a:pPr>
            <a:r>
              <a:t>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2907792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65727C"/>
                </a:solidFill>
                <a:latin typeface="Aptos"/>
              </a:defRPr>
            </a:pPr>
            <a:r>
              <a:t>MOBILE VERSION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11680"/>
            <a:ext cx="2926080" cy="10972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0">
                <a:solidFill>
                  <a:srgbClr val="64717B"/>
                </a:solidFill>
                <a:latin typeface="Aptos"/>
              </a:defRPr>
            </a:pPr>
            <a:r>
              <a:t>Single-column layout</a:t>
            </a:r>
          </a:p>
          <a:p>
            <a:pPr>
              <a:defRPr sz="1300" b="0">
                <a:solidFill>
                  <a:srgbClr val="64717B"/>
                </a:solidFill>
                <a:latin typeface="Aptos"/>
              </a:defRPr>
            </a:pPr>
            <a:r>
              <a:t>Touch-friendly controls</a:t>
            </a:r>
          </a:p>
          <a:p>
            <a:pPr>
              <a:defRPr sz="1300" b="0">
                <a:solidFill>
                  <a:srgbClr val="64717B"/>
                </a:solidFill>
                <a:latin typeface="Aptos"/>
              </a:defRPr>
            </a:pPr>
            <a:r>
              <a:t>Compact navigation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1463040"/>
            <a:ext cx="292608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65727C"/>
                </a:solidFill>
                <a:latin typeface="Aptos"/>
              </a:defRPr>
            </a:pPr>
            <a:r>
              <a:t>SCREEN CONTENT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94192" y="2011680"/>
            <a:ext cx="2788920" cy="11887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0">
                <a:solidFill>
                  <a:srgbClr val="64717B"/>
                </a:solidFill>
                <a:latin typeface="Aptos"/>
              </a:defRPr>
            </a:pPr>
            <a:r>
              <a:t>The same information is reorganized for small screens.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5696" y="1609344"/>
            <a:ext cx="2743200" cy="31089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222930"/>
                </a:solidFill>
                <a:latin typeface="Aptos"/>
              </a:defRPr>
            </a:pPr>
            <a:r>
              <a:t>Dashboard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696" y="1984248"/>
            <a:ext cx="2834640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77828B"/>
                </a:solidFill>
                <a:latin typeface="Aptos"/>
              </a:defRPr>
            </a:pPr>
            <a:r>
              <a:t>Track your workouts and progress.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25696" y="2386584"/>
            <a:ext cx="3328415" cy="5303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2856" y="2505456"/>
            <a:ext cx="1554480" cy="21945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Total Workouts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2468880"/>
            <a:ext cx="777240" cy="30175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900" b="1">
                <a:solidFill>
                  <a:srgbClr val="9AA3AA"/>
                </a:solidFill>
                <a:latin typeface="Aptos"/>
              </a:defRPr>
            </a:pPr>
            <a:r>
              <a:t>24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25696" y="2990088"/>
            <a:ext cx="3328415" cy="5303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62856" y="3108960"/>
            <a:ext cx="1554480" cy="21945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Active Streak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3072384"/>
            <a:ext cx="777240" cy="30175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900" b="1">
                <a:solidFill>
                  <a:srgbClr val="9AA3AA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25696" y="3593591"/>
            <a:ext cx="3328415" cy="5303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2856" y="3712464"/>
            <a:ext cx="1554480" cy="21945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Calories Burned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3675888"/>
            <a:ext cx="777240" cy="30175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900" b="1">
                <a:solidFill>
                  <a:srgbClr val="9AA3AA"/>
                </a:solidFill>
                <a:latin typeface="Aptos"/>
              </a:defRPr>
            </a:pPr>
            <a:r>
              <a:t>4,850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25696" y="4352544"/>
            <a:ext cx="3328415" cy="12984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4480559"/>
            <a:ext cx="3054096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200" b="1">
                <a:solidFill>
                  <a:srgbClr val="222930"/>
                </a:solidFill>
                <a:latin typeface="Aptos"/>
              </a:defRPr>
            </a:pPr>
            <a:r>
              <a:t>Weekly Activity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72584" y="5155387"/>
            <a:ext cx="164592" cy="285292"/>
          </a:xfrm>
          <a:prstGeom prst="rect">
            <a:avLst/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72307" y="5012740"/>
            <a:ext cx="164592" cy="427939"/>
          </a:xfrm>
          <a:prstGeom prst="rect">
            <a:avLst/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72030" y="5084064"/>
            <a:ext cx="164592" cy="356616"/>
          </a:xfrm>
          <a:prstGeom prst="rect">
            <a:avLst/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871754" y="4905755"/>
            <a:ext cx="164592" cy="534924"/>
          </a:xfrm>
          <a:prstGeom prst="rect">
            <a:avLst/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1477" y="5036515"/>
            <a:ext cx="164592" cy="404164"/>
          </a:xfrm>
          <a:prstGeom prst="rect">
            <a:avLst/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671201" y="4846319"/>
            <a:ext cx="164592" cy="594360"/>
          </a:xfrm>
          <a:prstGeom prst="rect">
            <a:avLst/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070924" y="5202936"/>
            <a:ext cx="164592" cy="237744"/>
          </a:xfrm>
          <a:prstGeom prst="rect">
            <a:avLst/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425696" y="5779007"/>
            <a:ext cx="3328415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0" y="5925312"/>
            <a:ext cx="3054096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200" b="1">
                <a:solidFill>
                  <a:srgbClr val="222930"/>
                </a:solidFill>
                <a:latin typeface="Aptos"/>
              </a:defRPr>
            </a:pPr>
            <a:r>
              <a:t>Muscle Distribution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6272783"/>
            <a:ext cx="914400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0">
                <a:solidFill>
                  <a:srgbClr val="77828B"/>
                </a:solidFill>
                <a:latin typeface="Aptos"/>
              </a:defRPr>
            </a:pPr>
            <a:r>
              <a:t>Chest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95544" y="6300216"/>
            <a:ext cx="2066543" cy="73152"/>
          </a:xfrm>
          <a:prstGeom prst="roundRect">
            <a:avLst>
              <a:gd name="adj" fmla="val 12000"/>
            </a:avLst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495544" y="6300216"/>
            <a:ext cx="723290" cy="73152"/>
          </a:xfrm>
          <a:prstGeom prst="roundRect">
            <a:avLst>
              <a:gd name="adj" fmla="val 12000"/>
            </a:avLst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0" y="6419088"/>
            <a:ext cx="914400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0">
                <a:solidFill>
                  <a:srgbClr val="77828B"/>
                </a:solidFill>
                <a:latin typeface="Aptos"/>
              </a:defRPr>
            </a:pPr>
            <a:r>
              <a:t>Legs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95544" y="6446520"/>
            <a:ext cx="2066543" cy="73152"/>
          </a:xfrm>
          <a:prstGeom prst="roundRect">
            <a:avLst>
              <a:gd name="adj" fmla="val 12000"/>
            </a:avLst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495544" y="6446520"/>
            <a:ext cx="619963" cy="73152"/>
          </a:xfrm>
          <a:prstGeom prst="roundRect">
            <a:avLst>
              <a:gd name="adj" fmla="val 12000"/>
            </a:avLst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0" y="6565392"/>
            <a:ext cx="914400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0">
                <a:solidFill>
                  <a:srgbClr val="77828B"/>
                </a:solidFill>
                <a:latin typeface="Aptos"/>
              </a:defRPr>
            </a:pPr>
            <a:r>
              <a:t>Back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95544" y="6592824"/>
            <a:ext cx="2066543" cy="73152"/>
          </a:xfrm>
          <a:prstGeom prst="roundRect">
            <a:avLst>
              <a:gd name="adj" fmla="val 12000"/>
            </a:avLst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495544" y="6592824"/>
            <a:ext cx="413308" cy="73152"/>
          </a:xfrm>
          <a:prstGeom prst="roundRect">
            <a:avLst>
              <a:gd name="adj" fmla="val 12000"/>
            </a:avLst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0" y="6711696"/>
            <a:ext cx="914400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0">
                <a:solidFill>
                  <a:srgbClr val="77828B"/>
                </a:solidFill>
                <a:latin typeface="Aptos"/>
              </a:defRPr>
            </a:pPr>
            <a:r>
              <a:t>Shoulders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95544" y="6739127"/>
            <a:ext cx="2066543" cy="73152"/>
          </a:xfrm>
          <a:prstGeom prst="roundRect">
            <a:avLst>
              <a:gd name="adj" fmla="val 12000"/>
            </a:avLst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95544" y="6739127"/>
            <a:ext cx="309981" cy="73152"/>
          </a:xfrm>
          <a:prstGeom prst="roundRect">
            <a:avLst>
              <a:gd name="adj" fmla="val 12000"/>
            </a:avLst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76072" y="6611112"/>
            <a:ext cx="8229600" cy="13716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0">
                <a:solidFill>
                  <a:srgbClr val="65717A"/>
                </a:solidFill>
                <a:latin typeface="Aptos"/>
              </a:defRPr>
            </a:pPr>
            <a:r>
              <a:t>FITTRACK / WIREFRAMES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822960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300" b="1">
                <a:solidFill>
                  <a:srgbClr val="1C252B"/>
                </a:solidFill>
                <a:latin typeface="Aptos"/>
              </a:defRPr>
            </a:pPr>
            <a:r>
              <a:t>Exercise Library  /  Desktop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292608"/>
            <a:ext cx="1737360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000" b="1">
                <a:solidFill>
                  <a:srgbClr val="5B6973"/>
                </a:solidFill>
                <a:latin typeface="Aptos"/>
              </a:defRPr>
            </a:pPr>
            <a:r>
              <a:t>YOUSRY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57784" y="722376"/>
            <a:ext cx="11082528" cy="22860"/>
          </a:xfrm>
          <a:prstGeom prst="rect">
            <a:avLst/>
          </a:prstGeom>
          <a:solidFill>
            <a:srgbClr val="B6B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905256"/>
            <a:ext cx="11100816" cy="5641848"/>
          </a:xfrm>
          <a:prstGeom prst="roundRect">
            <a:avLst>
              <a:gd name="adj" fmla="val 12000"/>
            </a:avLst>
          </a:prstGeom>
          <a:solidFill>
            <a:srgbClr val="F5F6F7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987552"/>
            <a:ext cx="10954512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3" y="1097280"/>
            <a:ext cx="1463040" cy="32004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700" b="1">
                <a:solidFill>
                  <a:srgbClr val="9AA3AA"/>
                </a:solidFill>
                <a:latin typeface="Aptos"/>
              </a:defRPr>
            </a:pPr>
            <a:r>
              <a:t>FitTrack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8568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Home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3547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8526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Exercises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3506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My Routine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78485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83465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Profile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88444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Login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1755648"/>
            <a:ext cx="5486400" cy="31089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100" b="1">
                <a:solidFill>
                  <a:srgbClr val="222930"/>
                </a:solidFill>
                <a:latin typeface="Aptos"/>
              </a:defRPr>
            </a:pPr>
            <a:r>
              <a:t>Exercise Library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130552"/>
            <a:ext cx="6400800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Choose an exercise to view its details.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2624328"/>
            <a:ext cx="3313176" cy="20208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78407" y="2734056"/>
            <a:ext cx="3093720" cy="905256"/>
          </a:xfrm>
          <a:prstGeom prst="roundRect">
            <a:avLst>
              <a:gd name="adj" fmla="val 12000"/>
            </a:avLst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88136" y="2880360"/>
            <a:ext cx="960821" cy="594360"/>
          </a:xfrm>
          <a:prstGeom prst="roundRect">
            <a:avLst>
              <a:gd name="adj" fmla="val 12000"/>
            </a:avLst>
          </a:prstGeom>
          <a:solidFill>
            <a:srgbClr val="E5E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3271" y="3776472"/>
            <a:ext cx="3084576" cy="28346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1">
                <a:solidFill>
                  <a:srgbClr val="222930"/>
                </a:solidFill>
                <a:latin typeface="Aptos"/>
              </a:defRPr>
            </a:pPr>
            <a:r>
              <a:t>Squats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1" y="4105656"/>
            <a:ext cx="3130296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Legs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33271" y="4361688"/>
            <a:ext cx="2983992" cy="256032"/>
          </a:xfrm>
          <a:prstGeom prst="roundRect">
            <a:avLst>
              <a:gd name="adj" fmla="val 12000"/>
            </a:avLst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1" y="4421124"/>
            <a:ext cx="2983992" cy="21945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View Details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24172" y="2624328"/>
            <a:ext cx="3313176" cy="20208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33900" y="2734056"/>
            <a:ext cx="3093720" cy="905256"/>
          </a:xfrm>
          <a:prstGeom prst="roundRect">
            <a:avLst>
              <a:gd name="adj" fmla="val 12000"/>
            </a:avLst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643628" y="2880360"/>
            <a:ext cx="960821" cy="594360"/>
          </a:xfrm>
          <a:prstGeom prst="roundRect">
            <a:avLst>
              <a:gd name="adj" fmla="val 12000"/>
            </a:avLst>
          </a:prstGeom>
          <a:solidFill>
            <a:srgbClr val="E5E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88764" y="3776472"/>
            <a:ext cx="3084576" cy="28346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1">
                <a:solidFill>
                  <a:srgbClr val="222930"/>
                </a:solidFill>
                <a:latin typeface="Aptos"/>
              </a:defRPr>
            </a:pPr>
            <a:r>
              <a:t>Chest Press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88764" y="4105656"/>
            <a:ext cx="3130296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Chest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88764" y="4361688"/>
            <a:ext cx="2983992" cy="256032"/>
          </a:xfrm>
          <a:prstGeom prst="roundRect">
            <a:avLst>
              <a:gd name="adj" fmla="val 12000"/>
            </a:avLst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88764" y="4421124"/>
            <a:ext cx="2983992" cy="21945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View Details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79664" y="2624328"/>
            <a:ext cx="3313176" cy="20208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089392" y="2734056"/>
            <a:ext cx="3093720" cy="905256"/>
          </a:xfrm>
          <a:prstGeom prst="roundRect">
            <a:avLst>
              <a:gd name="adj" fmla="val 12000"/>
            </a:avLst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99120" y="2880360"/>
            <a:ext cx="960821" cy="594360"/>
          </a:xfrm>
          <a:prstGeom prst="roundRect">
            <a:avLst>
              <a:gd name="adj" fmla="val 12000"/>
            </a:avLst>
          </a:prstGeom>
          <a:solidFill>
            <a:srgbClr val="E5E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44256" y="3776472"/>
            <a:ext cx="3084576" cy="28346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1">
                <a:solidFill>
                  <a:srgbClr val="222930"/>
                </a:solidFill>
                <a:latin typeface="Aptos"/>
              </a:defRPr>
            </a:pPr>
            <a:r>
              <a:t>T-Bar Row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44256" y="4105656"/>
            <a:ext cx="3130296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Back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44256" y="4361688"/>
            <a:ext cx="2983992" cy="256032"/>
          </a:xfrm>
          <a:prstGeom prst="roundRect">
            <a:avLst>
              <a:gd name="adj" fmla="val 12000"/>
            </a:avLst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44256" y="4421124"/>
            <a:ext cx="2983992" cy="21945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View Details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8680" y="4800600"/>
            <a:ext cx="3313176" cy="20208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78407" y="4910328"/>
            <a:ext cx="3093720" cy="905256"/>
          </a:xfrm>
          <a:prstGeom prst="roundRect">
            <a:avLst>
              <a:gd name="adj" fmla="val 12000"/>
            </a:avLst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88136" y="5056632"/>
            <a:ext cx="960821" cy="594360"/>
          </a:xfrm>
          <a:prstGeom prst="roundRect">
            <a:avLst>
              <a:gd name="adj" fmla="val 12000"/>
            </a:avLst>
          </a:prstGeom>
          <a:solidFill>
            <a:srgbClr val="E5E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33271" y="5952744"/>
            <a:ext cx="3084576" cy="28346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1">
                <a:solidFill>
                  <a:srgbClr val="222930"/>
                </a:solidFill>
                <a:latin typeface="Aptos"/>
              </a:defRPr>
            </a:pPr>
            <a:r>
              <a:t>Cable Lateral Raise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3271" y="6281928"/>
            <a:ext cx="3130296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Shoulders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33271" y="6537960"/>
            <a:ext cx="2983992" cy="256032"/>
          </a:xfrm>
          <a:prstGeom prst="roundRect">
            <a:avLst>
              <a:gd name="adj" fmla="val 12000"/>
            </a:avLst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33271" y="6597396"/>
            <a:ext cx="2983992" cy="21945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View Details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24172" y="4800600"/>
            <a:ext cx="3313176" cy="20208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533900" y="4910328"/>
            <a:ext cx="3093720" cy="905256"/>
          </a:xfrm>
          <a:prstGeom prst="roundRect">
            <a:avLst>
              <a:gd name="adj" fmla="val 12000"/>
            </a:avLst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643628" y="5056632"/>
            <a:ext cx="960821" cy="594360"/>
          </a:xfrm>
          <a:prstGeom prst="roundRect">
            <a:avLst>
              <a:gd name="adj" fmla="val 12000"/>
            </a:avLst>
          </a:prstGeom>
          <a:solidFill>
            <a:srgbClr val="E5E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88764" y="5952744"/>
            <a:ext cx="3084576" cy="28346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1">
                <a:solidFill>
                  <a:srgbClr val="222930"/>
                </a:solidFill>
                <a:latin typeface="Aptos"/>
              </a:defRPr>
            </a:pPr>
            <a:r>
              <a:t>Biceps Curl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88764" y="6281928"/>
            <a:ext cx="3130296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Biceps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88764" y="6537960"/>
            <a:ext cx="2983992" cy="256032"/>
          </a:xfrm>
          <a:prstGeom prst="roundRect">
            <a:avLst>
              <a:gd name="adj" fmla="val 12000"/>
            </a:avLst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88764" y="6597396"/>
            <a:ext cx="2983992" cy="21945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View Details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979664" y="4800600"/>
            <a:ext cx="3313176" cy="20208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8089392" y="4910328"/>
            <a:ext cx="3093720" cy="905256"/>
          </a:xfrm>
          <a:prstGeom prst="roundRect">
            <a:avLst>
              <a:gd name="adj" fmla="val 12000"/>
            </a:avLst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8199120" y="5056632"/>
            <a:ext cx="960821" cy="594360"/>
          </a:xfrm>
          <a:prstGeom prst="roundRect">
            <a:avLst>
              <a:gd name="adj" fmla="val 12000"/>
            </a:avLst>
          </a:prstGeom>
          <a:solidFill>
            <a:srgbClr val="E5E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144256" y="5952744"/>
            <a:ext cx="3084576" cy="28346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1">
                <a:solidFill>
                  <a:srgbClr val="222930"/>
                </a:solidFill>
                <a:latin typeface="Aptos"/>
              </a:defRPr>
            </a:pPr>
            <a:r>
              <a:t>Front Shoulder Raise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44256" y="6281928"/>
            <a:ext cx="3130296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Shoulders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144256" y="6537960"/>
            <a:ext cx="2983992" cy="256032"/>
          </a:xfrm>
          <a:prstGeom prst="roundRect">
            <a:avLst>
              <a:gd name="adj" fmla="val 12000"/>
            </a:avLst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144256" y="6597396"/>
            <a:ext cx="2983992" cy="21945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View Details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6072" y="6611112"/>
            <a:ext cx="8229600" cy="13716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0">
                <a:solidFill>
                  <a:srgbClr val="65717A"/>
                </a:solidFill>
                <a:latin typeface="Aptos"/>
              </a:defRPr>
            </a:pPr>
            <a:r>
              <a:t>FITTRACK / WIREFRAMES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822960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300" b="1">
                <a:solidFill>
                  <a:srgbClr val="1C252B"/>
                </a:solidFill>
                <a:latin typeface="Aptos"/>
              </a:defRPr>
            </a:pPr>
            <a:r>
              <a:t>Exercise Library  /  Mobile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292608"/>
            <a:ext cx="1737360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000" b="1">
                <a:solidFill>
                  <a:srgbClr val="5B6973"/>
                </a:solidFill>
                <a:latin typeface="Aptos"/>
              </a:defRPr>
            </a:pPr>
            <a:r>
              <a:t>YOUSRY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57784" y="722376"/>
            <a:ext cx="11082528" cy="22860"/>
          </a:xfrm>
          <a:prstGeom prst="rect">
            <a:avLst/>
          </a:prstGeom>
          <a:solidFill>
            <a:srgbClr val="B6B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51960" y="905256"/>
            <a:ext cx="3675887" cy="5650992"/>
          </a:xfrm>
          <a:prstGeom prst="roundRect">
            <a:avLst>
              <a:gd name="adj" fmla="val 12000"/>
            </a:avLst>
          </a:prstGeom>
          <a:solidFill>
            <a:srgbClr val="F5F6F7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34256" y="996696"/>
            <a:ext cx="3511295" cy="4297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1416" y="1097280"/>
            <a:ext cx="1645920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9AA3AA"/>
                </a:solidFill>
                <a:latin typeface="Aptos"/>
              </a:defRPr>
            </a:pPr>
            <a:r>
              <a:t>FitTrack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106424"/>
            <a:ext cx="310896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500" b="1">
                <a:solidFill>
                  <a:srgbClr val="222930"/>
                </a:solidFill>
                <a:latin typeface="Aptos"/>
              </a:defRPr>
            </a:pPr>
            <a:r>
              <a:t>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2907792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65727C"/>
                </a:solidFill>
                <a:latin typeface="Aptos"/>
              </a:defRPr>
            </a:pPr>
            <a:r>
              <a:t>MOBILE VERSION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11680"/>
            <a:ext cx="2926080" cy="10972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0">
                <a:solidFill>
                  <a:srgbClr val="64717B"/>
                </a:solidFill>
                <a:latin typeface="Aptos"/>
              </a:defRPr>
            </a:pPr>
            <a:r>
              <a:t>Single-column layout</a:t>
            </a:r>
          </a:p>
          <a:p>
            <a:pPr>
              <a:defRPr sz="1300" b="0">
                <a:solidFill>
                  <a:srgbClr val="64717B"/>
                </a:solidFill>
                <a:latin typeface="Aptos"/>
              </a:defRPr>
            </a:pPr>
            <a:r>
              <a:t>Touch-friendly controls</a:t>
            </a:r>
          </a:p>
          <a:p>
            <a:pPr>
              <a:defRPr sz="1300" b="0">
                <a:solidFill>
                  <a:srgbClr val="64717B"/>
                </a:solidFill>
                <a:latin typeface="Aptos"/>
              </a:defRPr>
            </a:pPr>
            <a:r>
              <a:t>Compact navigation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1463040"/>
            <a:ext cx="292608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65727C"/>
                </a:solidFill>
                <a:latin typeface="Aptos"/>
              </a:defRPr>
            </a:pPr>
            <a:r>
              <a:t>SCREEN CONTENT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94192" y="2011680"/>
            <a:ext cx="2788920" cy="11887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0">
                <a:solidFill>
                  <a:srgbClr val="64717B"/>
                </a:solidFill>
                <a:latin typeface="Aptos"/>
              </a:defRPr>
            </a:pPr>
            <a:r>
              <a:t>The same information is reorganized for small screens.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5696" y="1609344"/>
            <a:ext cx="2743200" cy="31089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222930"/>
                </a:solidFill>
                <a:latin typeface="Aptos"/>
              </a:defRPr>
            </a:pPr>
            <a:r>
              <a:t>Exercise Library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696" y="1984248"/>
            <a:ext cx="2834640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77828B"/>
                </a:solidFill>
                <a:latin typeface="Aptos"/>
              </a:defRPr>
            </a:pPr>
            <a:r>
              <a:t>Choose an exercise to view its details.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25696" y="2377440"/>
            <a:ext cx="3328415" cy="6766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17136" y="2468880"/>
            <a:ext cx="612648" cy="493776"/>
          </a:xfrm>
          <a:prstGeom prst="roundRect">
            <a:avLst>
              <a:gd name="adj" fmla="val 12000"/>
            </a:avLst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80" y="2487168"/>
            <a:ext cx="2414015" cy="21945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100" b="1">
                <a:solidFill>
                  <a:srgbClr val="222930"/>
                </a:solidFill>
                <a:latin typeface="Aptos"/>
              </a:defRPr>
            </a:pPr>
            <a:r>
              <a:t>Squats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2761488"/>
            <a:ext cx="2414015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77828B"/>
                </a:solidFill>
                <a:latin typeface="Aptos"/>
              </a:defRPr>
            </a:pPr>
            <a:r>
              <a:t>Legs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25696" y="3136392"/>
            <a:ext cx="3328415" cy="6766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517136" y="3227832"/>
            <a:ext cx="612648" cy="493776"/>
          </a:xfrm>
          <a:prstGeom prst="roundRect">
            <a:avLst>
              <a:gd name="adj" fmla="val 12000"/>
            </a:avLst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0" y="3246120"/>
            <a:ext cx="2414015" cy="21945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100" b="1">
                <a:solidFill>
                  <a:srgbClr val="222930"/>
                </a:solidFill>
                <a:latin typeface="Aptos"/>
              </a:defRPr>
            </a:pPr>
            <a:r>
              <a:t>Chest Press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3520440"/>
            <a:ext cx="2414015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77828B"/>
                </a:solidFill>
                <a:latin typeface="Aptos"/>
              </a:defRPr>
            </a:pPr>
            <a:r>
              <a:t>Chest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25696" y="3895344"/>
            <a:ext cx="3328415" cy="6766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17136" y="3986783"/>
            <a:ext cx="612648" cy="493776"/>
          </a:xfrm>
          <a:prstGeom prst="roundRect">
            <a:avLst>
              <a:gd name="adj" fmla="val 12000"/>
            </a:avLst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0" y="4005072"/>
            <a:ext cx="2414015" cy="21945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100" b="1">
                <a:solidFill>
                  <a:srgbClr val="222930"/>
                </a:solidFill>
                <a:latin typeface="Aptos"/>
              </a:defRPr>
            </a:pPr>
            <a:r>
              <a:t>T-Bar Row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279392"/>
            <a:ext cx="2414015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77828B"/>
                </a:solidFill>
                <a:latin typeface="Aptos"/>
              </a:defRPr>
            </a:pPr>
            <a:r>
              <a:t>Back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25696" y="4654296"/>
            <a:ext cx="3328415" cy="6766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517136" y="4745736"/>
            <a:ext cx="612648" cy="493776"/>
          </a:xfrm>
          <a:prstGeom prst="roundRect">
            <a:avLst>
              <a:gd name="adj" fmla="val 12000"/>
            </a:avLst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12080" y="4764024"/>
            <a:ext cx="2414015" cy="21945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100" b="1">
                <a:solidFill>
                  <a:srgbClr val="222930"/>
                </a:solidFill>
                <a:latin typeface="Aptos"/>
              </a:defRPr>
            </a:pPr>
            <a:r>
              <a:t>Cable Lateral Raise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80" y="5038344"/>
            <a:ext cx="2414015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77828B"/>
                </a:solidFill>
                <a:latin typeface="Aptos"/>
              </a:defRPr>
            </a:pPr>
            <a:r>
              <a:t>Shoulders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25696" y="5413248"/>
            <a:ext cx="3328415" cy="6766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517136" y="5504688"/>
            <a:ext cx="612648" cy="493776"/>
          </a:xfrm>
          <a:prstGeom prst="roundRect">
            <a:avLst>
              <a:gd name="adj" fmla="val 12000"/>
            </a:avLst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2080" y="5522976"/>
            <a:ext cx="2414015" cy="21945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100" b="1">
                <a:solidFill>
                  <a:srgbClr val="222930"/>
                </a:solidFill>
                <a:latin typeface="Aptos"/>
              </a:defRPr>
            </a:pPr>
            <a:r>
              <a:t>Biceps Curl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12080" y="5797296"/>
            <a:ext cx="2414015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77828B"/>
                </a:solidFill>
                <a:latin typeface="Aptos"/>
              </a:defRPr>
            </a:pPr>
            <a:r>
              <a:t>Biceps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425696" y="6172200"/>
            <a:ext cx="3328415" cy="6766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517136" y="6263640"/>
            <a:ext cx="612648" cy="493776"/>
          </a:xfrm>
          <a:prstGeom prst="roundRect">
            <a:avLst>
              <a:gd name="adj" fmla="val 12000"/>
            </a:avLst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212080" y="6281928"/>
            <a:ext cx="2414015" cy="21945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100" b="1">
                <a:solidFill>
                  <a:srgbClr val="222930"/>
                </a:solidFill>
                <a:latin typeface="Aptos"/>
              </a:defRPr>
            </a:pPr>
            <a:r>
              <a:t>Front Shoulder Raise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0" y="6556248"/>
            <a:ext cx="2414015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77828B"/>
                </a:solidFill>
                <a:latin typeface="Aptos"/>
              </a:defRPr>
            </a:pPr>
            <a:r>
              <a:t>Shoulders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6072" y="6611112"/>
            <a:ext cx="8229600" cy="13716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0">
                <a:solidFill>
                  <a:srgbClr val="65717A"/>
                </a:solidFill>
                <a:latin typeface="Aptos"/>
              </a:defRPr>
            </a:pPr>
            <a:r>
              <a:t>FITTRACK / WIREFRAMES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822960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300" b="1">
                <a:solidFill>
                  <a:srgbClr val="1C252B"/>
                </a:solidFill>
                <a:latin typeface="Aptos"/>
              </a:defRPr>
            </a:pPr>
            <a:r>
              <a:t>Exercise Details  /  Desktop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292608"/>
            <a:ext cx="1737360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000" b="1">
                <a:solidFill>
                  <a:srgbClr val="5B6973"/>
                </a:solidFill>
                <a:latin typeface="Aptos"/>
              </a:defRPr>
            </a:pPr>
            <a:r>
              <a:t>YOUSRY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57784" y="722376"/>
            <a:ext cx="11082528" cy="22860"/>
          </a:xfrm>
          <a:prstGeom prst="rect">
            <a:avLst/>
          </a:prstGeom>
          <a:solidFill>
            <a:srgbClr val="B6B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905256"/>
            <a:ext cx="11100816" cy="5641848"/>
          </a:xfrm>
          <a:prstGeom prst="roundRect">
            <a:avLst>
              <a:gd name="adj" fmla="val 12000"/>
            </a:avLst>
          </a:prstGeom>
          <a:solidFill>
            <a:srgbClr val="F5F6F7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987552"/>
            <a:ext cx="10954512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3" y="1097280"/>
            <a:ext cx="1463040" cy="32004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700" b="1">
                <a:solidFill>
                  <a:srgbClr val="9AA3AA"/>
                </a:solidFill>
                <a:latin typeface="Aptos"/>
              </a:defRPr>
            </a:pPr>
            <a:r>
              <a:t>FitTrack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8568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Home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3547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8526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Exercises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3506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My Routine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78485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83465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Profile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88444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Login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1755648"/>
            <a:ext cx="5486400" cy="31089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100" b="1">
                <a:solidFill>
                  <a:srgbClr val="222930"/>
                </a:solidFill>
                <a:latin typeface="Aptos"/>
              </a:defRPr>
            </a:pPr>
            <a:r>
              <a:t>Squats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130552"/>
            <a:ext cx="6400800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Exercise guide and safety tips.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2615184"/>
            <a:ext cx="4916545" cy="4114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099048" y="2615184"/>
            <a:ext cx="5230368" cy="2148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099048" y="4928616"/>
            <a:ext cx="5230368" cy="1801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51560" y="2798063"/>
            <a:ext cx="4498116" cy="1975104"/>
          </a:xfrm>
          <a:prstGeom prst="roundRect">
            <a:avLst>
              <a:gd name="adj" fmla="val 12000"/>
            </a:avLst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9848" y="4956048"/>
            <a:ext cx="4393509" cy="32004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700" b="1">
                <a:solidFill>
                  <a:srgbClr val="222930"/>
                </a:solidFill>
                <a:latin typeface="Aptos"/>
              </a:defRPr>
            </a:pPr>
            <a:r>
              <a:t>Exercise Information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" y="5413248"/>
            <a:ext cx="4184294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100" b="0">
                <a:solidFill>
                  <a:srgbClr val="77828B"/>
                </a:solidFill>
                <a:latin typeface="Aptos"/>
              </a:defRPr>
            </a:pPr>
            <a:r>
              <a:t>Muscle: Legs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5751576"/>
            <a:ext cx="4184294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100" b="0">
                <a:solidFill>
                  <a:srgbClr val="77828B"/>
                </a:solidFill>
                <a:latin typeface="Aptos"/>
              </a:defRPr>
            </a:pPr>
            <a:r>
              <a:t>Equipment: Bodyweight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6089904"/>
            <a:ext cx="4184294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100" b="0">
                <a:solidFill>
                  <a:srgbClr val="77828B"/>
                </a:solidFill>
                <a:latin typeface="Aptos"/>
              </a:defRPr>
            </a:pPr>
            <a:r>
              <a:t>Difficulty: Beginner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8262" y="2825496"/>
            <a:ext cx="4498116" cy="32004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700" b="1">
                <a:solidFill>
                  <a:srgbClr val="222930"/>
                </a:solidFill>
                <a:latin typeface="Aptos"/>
              </a:defRPr>
            </a:pPr>
            <a:r>
              <a:t>How to Perform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8262" y="3319272"/>
            <a:ext cx="4498116" cy="24688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100" b="0">
                <a:solidFill>
                  <a:srgbClr val="77828B"/>
                </a:solidFill>
                <a:latin typeface="Aptos"/>
              </a:defRPr>
            </a:pPr>
            <a:r>
              <a:t>01  Stand shoulder-width apart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8262" y="3630168"/>
            <a:ext cx="4498116" cy="24688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100" b="0">
                <a:solidFill>
                  <a:srgbClr val="77828B"/>
                </a:solidFill>
                <a:latin typeface="Aptos"/>
              </a:defRPr>
            </a:pPr>
            <a:r>
              <a:t>02  Lower your hips slowly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8262" y="3941063"/>
            <a:ext cx="4498116" cy="24688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100" b="0">
                <a:solidFill>
                  <a:srgbClr val="77828B"/>
                </a:solidFill>
                <a:latin typeface="Aptos"/>
              </a:defRPr>
            </a:pPr>
            <a:r>
              <a:t>03  Keep your back straight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8262" y="4251960"/>
            <a:ext cx="4498116" cy="24688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100" b="0">
                <a:solidFill>
                  <a:srgbClr val="77828B"/>
                </a:solidFill>
                <a:latin typeface="Aptos"/>
              </a:defRPr>
            </a:pPr>
            <a:r>
              <a:t>04  Stand back up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8262" y="5157216"/>
            <a:ext cx="4498116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700" b="1">
                <a:solidFill>
                  <a:srgbClr val="222930"/>
                </a:solidFill>
                <a:latin typeface="Aptos"/>
              </a:defRPr>
            </a:pPr>
            <a:r>
              <a:t>Safety Tips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8262" y="5532120"/>
            <a:ext cx="4498116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Keep your back straight and move slowly.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08262" y="6071616"/>
            <a:ext cx="4079687" cy="384048"/>
          </a:xfrm>
          <a:prstGeom prst="roundRect">
            <a:avLst>
              <a:gd name="adj" fmla="val 12000"/>
            </a:avLst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8262" y="6131052"/>
            <a:ext cx="4079687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View History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6072" y="6611112"/>
            <a:ext cx="8229600" cy="13716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0">
                <a:solidFill>
                  <a:srgbClr val="65717A"/>
                </a:solidFill>
                <a:latin typeface="Aptos"/>
              </a:defRPr>
            </a:pPr>
            <a:r>
              <a:t>FITTRACK / WIREFRAMES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822960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300" b="1">
                <a:solidFill>
                  <a:srgbClr val="1C252B"/>
                </a:solidFill>
                <a:latin typeface="Aptos"/>
              </a:defRPr>
            </a:pPr>
            <a:r>
              <a:t>Exercise Details  /  Mobile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292608"/>
            <a:ext cx="1737360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000" b="1">
                <a:solidFill>
                  <a:srgbClr val="5B6973"/>
                </a:solidFill>
                <a:latin typeface="Aptos"/>
              </a:defRPr>
            </a:pPr>
            <a:r>
              <a:t>YOUSRY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57784" y="722376"/>
            <a:ext cx="11082528" cy="22860"/>
          </a:xfrm>
          <a:prstGeom prst="rect">
            <a:avLst/>
          </a:prstGeom>
          <a:solidFill>
            <a:srgbClr val="B6B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51960" y="905256"/>
            <a:ext cx="3675887" cy="5650992"/>
          </a:xfrm>
          <a:prstGeom prst="roundRect">
            <a:avLst>
              <a:gd name="adj" fmla="val 12000"/>
            </a:avLst>
          </a:prstGeom>
          <a:solidFill>
            <a:srgbClr val="F5F6F7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34256" y="996696"/>
            <a:ext cx="3511295" cy="4297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1416" y="1097280"/>
            <a:ext cx="1645920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9AA3AA"/>
                </a:solidFill>
                <a:latin typeface="Aptos"/>
              </a:defRPr>
            </a:pPr>
            <a:r>
              <a:t>FitTrack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106424"/>
            <a:ext cx="310896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500" b="1">
                <a:solidFill>
                  <a:srgbClr val="222930"/>
                </a:solidFill>
                <a:latin typeface="Aptos"/>
              </a:defRPr>
            </a:pPr>
            <a:r>
              <a:t>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2907792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65727C"/>
                </a:solidFill>
                <a:latin typeface="Aptos"/>
              </a:defRPr>
            </a:pPr>
            <a:r>
              <a:t>MOBILE VERSION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11680"/>
            <a:ext cx="2926080" cy="10972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0">
                <a:solidFill>
                  <a:srgbClr val="64717B"/>
                </a:solidFill>
                <a:latin typeface="Aptos"/>
              </a:defRPr>
            </a:pPr>
            <a:r>
              <a:t>Single-column layout</a:t>
            </a:r>
          </a:p>
          <a:p>
            <a:pPr>
              <a:defRPr sz="1300" b="0">
                <a:solidFill>
                  <a:srgbClr val="64717B"/>
                </a:solidFill>
                <a:latin typeface="Aptos"/>
              </a:defRPr>
            </a:pPr>
            <a:r>
              <a:t>Touch-friendly controls</a:t>
            </a:r>
          </a:p>
          <a:p>
            <a:pPr>
              <a:defRPr sz="1300" b="0">
                <a:solidFill>
                  <a:srgbClr val="64717B"/>
                </a:solidFill>
                <a:latin typeface="Aptos"/>
              </a:defRPr>
            </a:pPr>
            <a:r>
              <a:t>Compact navigation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1463040"/>
            <a:ext cx="292608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65727C"/>
                </a:solidFill>
                <a:latin typeface="Aptos"/>
              </a:defRPr>
            </a:pPr>
            <a:r>
              <a:t>SCREEN CONTENT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94192" y="2011680"/>
            <a:ext cx="2788920" cy="11887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0">
                <a:solidFill>
                  <a:srgbClr val="64717B"/>
                </a:solidFill>
                <a:latin typeface="Aptos"/>
              </a:defRPr>
            </a:pPr>
            <a:r>
              <a:t>The same information is reorganized for small screens.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5696" y="1609344"/>
            <a:ext cx="2743200" cy="31089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222930"/>
                </a:solidFill>
                <a:latin typeface="Aptos"/>
              </a:defRPr>
            </a:pPr>
            <a:r>
              <a:t>Squats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696" y="1984248"/>
            <a:ext cx="2834640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77828B"/>
                </a:solidFill>
                <a:latin typeface="Aptos"/>
              </a:defRPr>
            </a:pPr>
            <a:r>
              <a:t>Exercise guide and safety tips.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25696" y="2377440"/>
            <a:ext cx="3328415" cy="16642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62856" y="2514600"/>
            <a:ext cx="3054096" cy="850392"/>
          </a:xfrm>
          <a:prstGeom prst="roundRect">
            <a:avLst>
              <a:gd name="adj" fmla="val 12000"/>
            </a:avLst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99432" y="3474720"/>
            <a:ext cx="3054096" cy="21945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Muscle: Legs   •   Beginner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25696" y="4160520"/>
            <a:ext cx="3328415" cy="14904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62856" y="4306824"/>
            <a:ext cx="3054096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1">
                <a:solidFill>
                  <a:srgbClr val="222930"/>
                </a:solidFill>
                <a:latin typeface="Aptos"/>
              </a:defRPr>
            </a:pPr>
            <a:r>
              <a:t>How to Perform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1144" y="4626864"/>
            <a:ext cx="3054096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77828B"/>
                </a:solidFill>
                <a:latin typeface="Aptos"/>
              </a:defRPr>
            </a:pPr>
            <a:r>
              <a:t>1. Stand shoulder-width apart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1144" y="4855464"/>
            <a:ext cx="3054096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77828B"/>
                </a:solidFill>
                <a:latin typeface="Aptos"/>
              </a:defRPr>
            </a:pPr>
            <a:r>
              <a:t>2. Lower your hips slowly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81144" y="5084064"/>
            <a:ext cx="3054096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77828B"/>
                </a:solidFill>
                <a:latin typeface="Aptos"/>
              </a:defRPr>
            </a:pPr>
            <a:r>
              <a:t>3. Keep your back straight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1144" y="5312664"/>
            <a:ext cx="3054096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77828B"/>
                </a:solidFill>
                <a:latin typeface="Aptos"/>
              </a:defRPr>
            </a:pPr>
            <a:r>
              <a:t>4. Stand back up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25696" y="5769864"/>
            <a:ext cx="3328415" cy="6309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5907024"/>
            <a:ext cx="3054096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1">
                <a:solidFill>
                  <a:srgbClr val="222930"/>
                </a:solidFill>
                <a:latin typeface="Aptos"/>
              </a:defRPr>
            </a:pPr>
            <a:r>
              <a:t>Safety: Control the movement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25696" y="6583680"/>
            <a:ext cx="3328415" cy="320040"/>
          </a:xfrm>
          <a:prstGeom prst="roundRect">
            <a:avLst>
              <a:gd name="adj" fmla="val 12000"/>
            </a:avLst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25696" y="6643116"/>
            <a:ext cx="3328415" cy="28346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View Workout History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72" y="6611112"/>
            <a:ext cx="8229600" cy="13716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0">
                <a:solidFill>
                  <a:srgbClr val="65717A"/>
                </a:solidFill>
                <a:latin typeface="Aptos"/>
              </a:defRPr>
            </a:pPr>
            <a:r>
              <a:t>FITTRACK / WIREFRAMES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822960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300" b="1">
                <a:solidFill>
                  <a:srgbClr val="1C252B"/>
                </a:solidFill>
                <a:latin typeface="Aptos"/>
              </a:defRPr>
            </a:pPr>
            <a:r>
              <a:t>Routine Builder  /  Desktop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292608"/>
            <a:ext cx="1737360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000" b="1">
                <a:solidFill>
                  <a:srgbClr val="5B6973"/>
                </a:solidFill>
                <a:latin typeface="Aptos"/>
              </a:defRPr>
            </a:pPr>
            <a:r>
              <a:t>ESLAM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57784" y="722376"/>
            <a:ext cx="11082528" cy="22860"/>
          </a:xfrm>
          <a:prstGeom prst="rect">
            <a:avLst/>
          </a:prstGeom>
          <a:solidFill>
            <a:srgbClr val="B6B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905256"/>
            <a:ext cx="11100816" cy="5641848"/>
          </a:xfrm>
          <a:prstGeom prst="roundRect">
            <a:avLst>
              <a:gd name="adj" fmla="val 12000"/>
            </a:avLst>
          </a:prstGeom>
          <a:solidFill>
            <a:srgbClr val="F5F6F7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987552"/>
            <a:ext cx="10954512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3" y="1097280"/>
            <a:ext cx="1463040" cy="32004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700" b="1">
                <a:solidFill>
                  <a:srgbClr val="9AA3AA"/>
                </a:solidFill>
                <a:latin typeface="Aptos"/>
              </a:defRPr>
            </a:pPr>
            <a:r>
              <a:t>FitTrack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8568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Home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3547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8526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Exercises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3506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My Routine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78485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83465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Profile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88444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Login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1755648"/>
            <a:ext cx="5486400" cy="31089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100" b="1">
                <a:solidFill>
                  <a:srgbClr val="222930"/>
                </a:solidFill>
                <a:latin typeface="Aptos"/>
              </a:defRPr>
            </a:pPr>
            <a:r>
              <a:t>Routine Builder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130552"/>
            <a:ext cx="6400800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Plan your weekly training.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2578608"/>
            <a:ext cx="1423851" cy="502920"/>
          </a:xfrm>
          <a:prstGeom prst="roundRect">
            <a:avLst>
              <a:gd name="adj" fmla="val 12000"/>
            </a:avLst>
          </a:prstGeom>
          <a:solidFill>
            <a:srgbClr val="E5E8EA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2724912"/>
            <a:ext cx="1423851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1">
                <a:solidFill>
                  <a:srgbClr val="9AA3AA"/>
                </a:solidFill>
                <a:latin typeface="Aptos"/>
              </a:defRPr>
            </a:pPr>
            <a:r>
              <a:t>MON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374827" y="2578608"/>
            <a:ext cx="1423851" cy="502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74827" y="2724912"/>
            <a:ext cx="1423851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1">
                <a:solidFill>
                  <a:srgbClr val="77828B"/>
                </a:solidFill>
                <a:latin typeface="Aptos"/>
              </a:defRPr>
            </a:pPr>
            <a:r>
              <a:t>TUE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80974" y="2578608"/>
            <a:ext cx="1423851" cy="502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0974" y="2724912"/>
            <a:ext cx="1423851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1">
                <a:solidFill>
                  <a:srgbClr val="77828B"/>
                </a:solidFill>
                <a:latin typeface="Aptos"/>
              </a:defRPr>
            </a:pPr>
            <a:r>
              <a:t>WED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87122" y="2578608"/>
            <a:ext cx="1423851" cy="502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87122" y="2724912"/>
            <a:ext cx="1423851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1">
                <a:solidFill>
                  <a:srgbClr val="77828B"/>
                </a:solidFill>
                <a:latin typeface="Aptos"/>
              </a:defRPr>
            </a:pPr>
            <a:r>
              <a:t>THU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93269" y="2578608"/>
            <a:ext cx="1423851" cy="502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93269" y="2724912"/>
            <a:ext cx="1423851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1">
                <a:solidFill>
                  <a:srgbClr val="77828B"/>
                </a:solidFill>
                <a:latin typeface="Aptos"/>
              </a:defRPr>
            </a:pPr>
            <a:r>
              <a:t>FRI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399417" y="2578608"/>
            <a:ext cx="1423851" cy="502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99417" y="2724912"/>
            <a:ext cx="1423851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1">
                <a:solidFill>
                  <a:srgbClr val="77828B"/>
                </a:solidFill>
                <a:latin typeface="Aptos"/>
              </a:defRPr>
            </a:pPr>
            <a:r>
              <a:t>SAT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05564" y="2578608"/>
            <a:ext cx="1423851" cy="502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05564" y="2724912"/>
            <a:ext cx="1423851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1">
                <a:solidFill>
                  <a:srgbClr val="77828B"/>
                </a:solidFill>
                <a:latin typeface="Aptos"/>
              </a:defRPr>
            </a:pPr>
            <a:r>
              <a:t>SUN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3337560"/>
            <a:ext cx="10460736" cy="29260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700" b="1">
                <a:solidFill>
                  <a:srgbClr val="222930"/>
                </a:solidFill>
                <a:latin typeface="Aptos"/>
              </a:defRPr>
            </a:pPr>
            <a:r>
              <a:t>Chest &amp; Upper Body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8680" y="3767328"/>
            <a:ext cx="6171834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4127" y="3877056"/>
            <a:ext cx="4707331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200" b="1">
                <a:solidFill>
                  <a:srgbClr val="222930"/>
                </a:solidFill>
                <a:latin typeface="Aptos"/>
              </a:defRPr>
            </a:pPr>
            <a:r>
              <a:t>Chest Press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7" y="4133088"/>
            <a:ext cx="4707331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77828B"/>
                </a:solidFill>
                <a:latin typeface="Aptos"/>
              </a:defRPr>
            </a:pPr>
            <a:r>
              <a:t>3 Sets     12 Reps     60 sec Rest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68680" y="4480560"/>
            <a:ext cx="6171834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4127" y="4590288"/>
            <a:ext cx="4707331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200" b="1">
                <a:solidFill>
                  <a:srgbClr val="222930"/>
                </a:solidFill>
                <a:latin typeface="Aptos"/>
              </a:defRPr>
            </a:pPr>
            <a:r>
              <a:t>Cable Lateral Raise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4127" y="4846320"/>
            <a:ext cx="4707331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77828B"/>
                </a:solidFill>
                <a:latin typeface="Aptos"/>
              </a:defRPr>
            </a:pPr>
            <a:r>
              <a:t>3 Sets     12 Reps     60 sec Rest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8680" y="5193792"/>
            <a:ext cx="6171834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4127" y="5303520"/>
            <a:ext cx="4707331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200" b="1">
                <a:solidFill>
                  <a:srgbClr val="222930"/>
                </a:solidFill>
                <a:latin typeface="Aptos"/>
              </a:defRPr>
            </a:pPr>
            <a:r>
              <a:t>Front Shoulder Raise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7" y="5559552"/>
            <a:ext cx="4707331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77828B"/>
                </a:solidFill>
                <a:latin typeface="Aptos"/>
              </a:defRPr>
            </a:pPr>
            <a:r>
              <a:t>3 Sets     12 Reps     60 sec Rest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54336" y="3767328"/>
            <a:ext cx="3975079" cy="20299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68158" y="3986783"/>
            <a:ext cx="3138220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222930"/>
                </a:solidFill>
                <a:latin typeface="Aptos"/>
              </a:defRPr>
            </a:pPr>
            <a:r>
              <a:t>Workout Summary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68158" y="4498848"/>
            <a:ext cx="3138220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100" b="0">
                <a:solidFill>
                  <a:srgbClr val="77828B"/>
                </a:solidFill>
                <a:latin typeface="Aptos"/>
              </a:defRPr>
            </a:pPr>
            <a:r>
              <a:t>Exercises: 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68158" y="4837176"/>
            <a:ext cx="3138220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100" b="0">
                <a:solidFill>
                  <a:srgbClr val="77828B"/>
                </a:solidFill>
                <a:latin typeface="Aptos"/>
              </a:defRPr>
            </a:pPr>
            <a:r>
              <a:t>Total Sets: 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68158" y="5175504"/>
            <a:ext cx="3138220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100" b="0">
                <a:solidFill>
                  <a:srgbClr val="77828B"/>
                </a:solidFill>
                <a:latin typeface="Aptos"/>
              </a:defRPr>
            </a:pPr>
            <a:r>
              <a:t>Duration: 45 min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" y="6153912"/>
            <a:ext cx="10460736" cy="29260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700" b="1">
                <a:solidFill>
                  <a:srgbClr val="222930"/>
                </a:solidFill>
                <a:latin typeface="Aptos"/>
              </a:defRPr>
            </a:pPr>
            <a:r>
              <a:t>Add Exercise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68680" y="6592824"/>
            <a:ext cx="2505456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0120" y="6693408"/>
            <a:ext cx="2340864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Exercise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02152" y="6592824"/>
            <a:ext cx="2505456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93592" y="6693408"/>
            <a:ext cx="2340864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Training Day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35624" y="6592824"/>
            <a:ext cx="2505456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27064" y="6693408"/>
            <a:ext cx="2340864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Sets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769096" y="6592824"/>
            <a:ext cx="2505456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860536" y="6693408"/>
            <a:ext cx="2340864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Reps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68680" y="7150608"/>
            <a:ext cx="1463040" cy="365760"/>
          </a:xfrm>
          <a:prstGeom prst="roundRect">
            <a:avLst>
              <a:gd name="adj" fmla="val 12000"/>
            </a:avLst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68680" y="7210044"/>
            <a:ext cx="1463040" cy="32918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Add Exercise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76072" y="6611112"/>
            <a:ext cx="8229600" cy="13716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0">
                <a:solidFill>
                  <a:srgbClr val="65717A"/>
                </a:solidFill>
                <a:latin typeface="Aptos"/>
              </a:defRPr>
            </a:pPr>
            <a:r>
              <a:t>FITTRACK / WIREFRAMES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822960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300" b="1">
                <a:solidFill>
                  <a:srgbClr val="1C252B"/>
                </a:solidFill>
                <a:latin typeface="Aptos"/>
              </a:defRPr>
            </a:pPr>
            <a:r>
              <a:t>Routine Builder  /  Mobile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292608"/>
            <a:ext cx="1737360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000" b="1">
                <a:solidFill>
                  <a:srgbClr val="5B6973"/>
                </a:solidFill>
                <a:latin typeface="Aptos"/>
              </a:defRPr>
            </a:pPr>
            <a:r>
              <a:t>ESLAM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57784" y="722376"/>
            <a:ext cx="11082528" cy="22860"/>
          </a:xfrm>
          <a:prstGeom prst="rect">
            <a:avLst/>
          </a:prstGeom>
          <a:solidFill>
            <a:srgbClr val="B6B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51960" y="905256"/>
            <a:ext cx="3675887" cy="5650992"/>
          </a:xfrm>
          <a:prstGeom prst="roundRect">
            <a:avLst>
              <a:gd name="adj" fmla="val 12000"/>
            </a:avLst>
          </a:prstGeom>
          <a:solidFill>
            <a:srgbClr val="F5F6F7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34256" y="996696"/>
            <a:ext cx="3511295" cy="4297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1416" y="1097280"/>
            <a:ext cx="1645920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9AA3AA"/>
                </a:solidFill>
                <a:latin typeface="Aptos"/>
              </a:defRPr>
            </a:pPr>
            <a:r>
              <a:t>FitTrack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106424"/>
            <a:ext cx="310896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500" b="1">
                <a:solidFill>
                  <a:srgbClr val="222930"/>
                </a:solidFill>
                <a:latin typeface="Aptos"/>
              </a:defRPr>
            </a:pPr>
            <a:r>
              <a:t>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2907792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65727C"/>
                </a:solidFill>
                <a:latin typeface="Aptos"/>
              </a:defRPr>
            </a:pPr>
            <a:r>
              <a:t>MOBILE VERSION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11680"/>
            <a:ext cx="2926080" cy="10972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0">
                <a:solidFill>
                  <a:srgbClr val="64717B"/>
                </a:solidFill>
                <a:latin typeface="Aptos"/>
              </a:defRPr>
            </a:pPr>
            <a:r>
              <a:t>Single-column layout</a:t>
            </a:r>
          </a:p>
          <a:p>
            <a:pPr>
              <a:defRPr sz="1300" b="0">
                <a:solidFill>
                  <a:srgbClr val="64717B"/>
                </a:solidFill>
                <a:latin typeface="Aptos"/>
              </a:defRPr>
            </a:pPr>
            <a:r>
              <a:t>Touch-friendly controls</a:t>
            </a:r>
          </a:p>
          <a:p>
            <a:pPr>
              <a:defRPr sz="1300" b="0">
                <a:solidFill>
                  <a:srgbClr val="64717B"/>
                </a:solidFill>
                <a:latin typeface="Aptos"/>
              </a:defRPr>
            </a:pPr>
            <a:r>
              <a:t>Compact navigation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1463040"/>
            <a:ext cx="292608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65727C"/>
                </a:solidFill>
                <a:latin typeface="Aptos"/>
              </a:defRPr>
            </a:pPr>
            <a:r>
              <a:t>SCREEN CONTENT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94192" y="2011680"/>
            <a:ext cx="2788920" cy="11887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0">
                <a:solidFill>
                  <a:srgbClr val="64717B"/>
                </a:solidFill>
                <a:latin typeface="Aptos"/>
              </a:defRPr>
            </a:pPr>
            <a:r>
              <a:t>The same information is reorganized for small screens.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5696" y="1609344"/>
            <a:ext cx="2743200" cy="31089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222930"/>
                </a:solidFill>
                <a:latin typeface="Aptos"/>
              </a:defRPr>
            </a:pPr>
            <a:r>
              <a:t>Routine Builder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696" y="1984248"/>
            <a:ext cx="2834640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77828B"/>
                </a:solidFill>
                <a:latin typeface="Aptos"/>
              </a:defRPr>
            </a:pPr>
            <a:r>
              <a:t>Plan your weekly training.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25696" y="2414016"/>
            <a:ext cx="770381" cy="384048"/>
          </a:xfrm>
          <a:prstGeom prst="roundRect">
            <a:avLst>
              <a:gd name="adj" fmla="val 12000"/>
            </a:avLst>
          </a:prstGeom>
          <a:solidFill>
            <a:srgbClr val="E5E8EA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25696" y="2523744"/>
            <a:ext cx="770381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900" b="1">
                <a:solidFill>
                  <a:srgbClr val="9AA3AA"/>
                </a:solidFill>
                <a:latin typeface="Aptos"/>
              </a:defRPr>
            </a:pPr>
            <a:r>
              <a:t>MON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78374" y="2414016"/>
            <a:ext cx="770381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78374" y="2523744"/>
            <a:ext cx="770381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900" b="0">
                <a:solidFill>
                  <a:srgbClr val="77828B"/>
                </a:solidFill>
                <a:latin typeface="Aptos"/>
              </a:defRPr>
            </a:pPr>
            <a:r>
              <a:t>TUE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31052" y="2414016"/>
            <a:ext cx="770381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31052" y="2523744"/>
            <a:ext cx="770381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900" b="0">
                <a:solidFill>
                  <a:srgbClr val="77828B"/>
                </a:solidFill>
                <a:latin typeface="Aptos"/>
              </a:defRPr>
            </a:pPr>
            <a:r>
              <a:t>WED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83730" y="2414016"/>
            <a:ext cx="770381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83730" y="2523744"/>
            <a:ext cx="770381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900" b="0">
                <a:solidFill>
                  <a:srgbClr val="77828B"/>
                </a:solidFill>
                <a:latin typeface="Aptos"/>
              </a:defRPr>
            </a:pPr>
            <a:r>
              <a:t>THU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25696" y="2889504"/>
            <a:ext cx="770381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25696" y="2999232"/>
            <a:ext cx="770381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900" b="0">
                <a:solidFill>
                  <a:srgbClr val="77828B"/>
                </a:solidFill>
                <a:latin typeface="Aptos"/>
              </a:defRPr>
            </a:pPr>
            <a:r>
              <a:t>FRI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78374" y="2889504"/>
            <a:ext cx="770381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78374" y="2999232"/>
            <a:ext cx="770381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900" b="0">
                <a:solidFill>
                  <a:srgbClr val="77828B"/>
                </a:solidFill>
                <a:latin typeface="Aptos"/>
              </a:defRPr>
            </a:pPr>
            <a:r>
              <a:t>SAT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31052" y="2889504"/>
            <a:ext cx="770381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31052" y="2999232"/>
            <a:ext cx="770381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900" b="0">
                <a:solidFill>
                  <a:srgbClr val="77828B"/>
                </a:solidFill>
                <a:latin typeface="Aptos"/>
              </a:defRPr>
            </a:pPr>
            <a:r>
              <a:t>SUN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5696" y="3566160"/>
            <a:ext cx="3328415" cy="26517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400" b="1">
                <a:solidFill>
                  <a:srgbClr val="222930"/>
                </a:solidFill>
                <a:latin typeface="Aptos"/>
              </a:defRPr>
            </a:pPr>
            <a:r>
              <a:t>Monday Workout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25696" y="3959352"/>
            <a:ext cx="3328415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53712" y="4059936"/>
            <a:ext cx="3054096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1">
                <a:solidFill>
                  <a:srgbClr val="222930"/>
                </a:solidFill>
                <a:latin typeface="Aptos"/>
              </a:defRPr>
            </a:pPr>
            <a:r>
              <a:t>Chest Press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3712" y="4288536"/>
            <a:ext cx="3054096" cy="15544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0">
                <a:solidFill>
                  <a:srgbClr val="77828B"/>
                </a:solidFill>
                <a:latin typeface="Aptos"/>
              </a:defRPr>
            </a:pPr>
            <a:r>
              <a:t>3 sets / 12 reps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25696" y="4507992"/>
            <a:ext cx="3328415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53712" y="4608576"/>
            <a:ext cx="3054096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1">
                <a:solidFill>
                  <a:srgbClr val="222930"/>
                </a:solidFill>
                <a:latin typeface="Aptos"/>
              </a:defRPr>
            </a:pPr>
            <a:r>
              <a:t>Cable Lateral Raise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3712" y="4837176"/>
            <a:ext cx="3054096" cy="15544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0">
                <a:solidFill>
                  <a:srgbClr val="77828B"/>
                </a:solidFill>
                <a:latin typeface="Aptos"/>
              </a:defRPr>
            </a:pPr>
            <a:r>
              <a:t>3 sets / 12 reps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25696" y="5056632"/>
            <a:ext cx="3328415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53712" y="5157216"/>
            <a:ext cx="3054096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1">
                <a:solidFill>
                  <a:srgbClr val="222930"/>
                </a:solidFill>
                <a:latin typeface="Aptos"/>
              </a:defRPr>
            </a:pPr>
            <a:r>
              <a:t>Front Shoulder Raise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53712" y="5385816"/>
            <a:ext cx="3054096" cy="15544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0">
                <a:solidFill>
                  <a:srgbClr val="77828B"/>
                </a:solidFill>
                <a:latin typeface="Aptos"/>
              </a:defRPr>
            </a:pPr>
            <a:r>
              <a:t>3 sets / 12 reps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25696" y="5797296"/>
            <a:ext cx="3328415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1">
                <a:solidFill>
                  <a:srgbClr val="222930"/>
                </a:solidFill>
                <a:latin typeface="Aptos"/>
              </a:defRPr>
            </a:pPr>
            <a:r>
              <a:t>Add Exercise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425696" y="6135624"/>
            <a:ext cx="3328415" cy="2926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35424" y="6199632"/>
            <a:ext cx="3145535" cy="17373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77828B"/>
                </a:solidFill>
                <a:latin typeface="Aptos"/>
              </a:defRPr>
            </a:pPr>
            <a:r>
              <a:t>Exercise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425696" y="6492240"/>
            <a:ext cx="3328415" cy="2926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35424" y="6556248"/>
            <a:ext cx="3145535" cy="17373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77828B"/>
                </a:solidFill>
                <a:latin typeface="Aptos"/>
              </a:defRPr>
            </a:pPr>
            <a:r>
              <a:t>Sets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425696" y="6848856"/>
            <a:ext cx="3328415" cy="2926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35424" y="6912864"/>
            <a:ext cx="3145535" cy="17373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77828B"/>
                </a:solidFill>
                <a:latin typeface="Aptos"/>
              </a:defRPr>
            </a:pPr>
            <a:r>
              <a:t>Reps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425696" y="7278624"/>
            <a:ext cx="3328415" cy="310896"/>
          </a:xfrm>
          <a:prstGeom prst="roundRect">
            <a:avLst>
              <a:gd name="adj" fmla="val 12000"/>
            </a:avLst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25696" y="7338060"/>
            <a:ext cx="3328415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Add Exercise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6072" y="6611112"/>
            <a:ext cx="8229600" cy="13716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0">
                <a:solidFill>
                  <a:srgbClr val="65717A"/>
                </a:solidFill>
                <a:latin typeface="Aptos"/>
              </a:defRPr>
            </a:pPr>
            <a:r>
              <a:t>FITTRACK / WIREFRAMES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822960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300" b="1">
                <a:solidFill>
                  <a:srgbClr val="1C252B"/>
                </a:solidFill>
                <a:latin typeface="Aptos"/>
              </a:defRPr>
            </a:pPr>
            <a:r>
              <a:t>Workout History  /  Desktop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292608"/>
            <a:ext cx="1737360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000" b="1">
                <a:solidFill>
                  <a:srgbClr val="5B6973"/>
                </a:solidFill>
                <a:latin typeface="Aptos"/>
              </a:defRPr>
            </a:pPr>
            <a:r>
              <a:t>YOUSRY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57784" y="722376"/>
            <a:ext cx="11082528" cy="22860"/>
          </a:xfrm>
          <a:prstGeom prst="rect">
            <a:avLst/>
          </a:prstGeom>
          <a:solidFill>
            <a:srgbClr val="B6B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905256"/>
            <a:ext cx="11100816" cy="5641848"/>
          </a:xfrm>
          <a:prstGeom prst="roundRect">
            <a:avLst>
              <a:gd name="adj" fmla="val 12000"/>
            </a:avLst>
          </a:prstGeom>
          <a:solidFill>
            <a:srgbClr val="F5F6F7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987552"/>
            <a:ext cx="10954512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3" y="1097280"/>
            <a:ext cx="1463040" cy="32004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700" b="1">
                <a:solidFill>
                  <a:srgbClr val="9AA3AA"/>
                </a:solidFill>
                <a:latin typeface="Aptos"/>
              </a:defRPr>
            </a:pPr>
            <a:r>
              <a:t>FitTrack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8568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Home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3547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8526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Exercises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3506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My Routine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78485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83465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Profile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88444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Login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1755648"/>
            <a:ext cx="5486400" cy="31089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100" b="1">
                <a:solidFill>
                  <a:srgbClr val="222930"/>
                </a:solidFill>
                <a:latin typeface="Aptos"/>
              </a:defRPr>
            </a:pPr>
            <a:r>
              <a:t>Workout History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130552"/>
            <a:ext cx="6400800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A simple overview of your workouts.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2505456"/>
            <a:ext cx="3331464" cy="9326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2505456"/>
            <a:ext cx="3331464" cy="45720"/>
          </a:xfrm>
          <a:prstGeom prst="rect">
            <a:avLst/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7" y="2670048"/>
            <a:ext cx="3057144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Total Workouts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7" y="2935224"/>
            <a:ext cx="3057144" cy="39319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400" b="1">
                <a:solidFill>
                  <a:srgbClr val="9AA3AA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10456" y="2505456"/>
            <a:ext cx="3331464" cy="9326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10456" y="2505456"/>
            <a:ext cx="3331464" cy="45720"/>
          </a:xfrm>
          <a:prstGeom prst="rect">
            <a:avLst/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65904" y="2670048"/>
            <a:ext cx="3057144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Total Sets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5904" y="2935224"/>
            <a:ext cx="3057144" cy="39319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400" b="1">
                <a:solidFill>
                  <a:srgbClr val="9AA3AA"/>
                </a:solidFill>
                <a:latin typeface="Aptos"/>
              </a:defRPr>
            </a:pPr>
            <a:r>
              <a:t>18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52232" y="2505456"/>
            <a:ext cx="3331464" cy="9326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52232" y="2505456"/>
            <a:ext cx="3331464" cy="45720"/>
          </a:xfrm>
          <a:prstGeom prst="rect">
            <a:avLst/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07680" y="2670048"/>
            <a:ext cx="3057144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Total Reps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07680" y="2935224"/>
            <a:ext cx="3057144" cy="39319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400" b="1">
                <a:solidFill>
                  <a:srgbClr val="9AA3AA"/>
                </a:solidFill>
                <a:latin typeface="Aptos"/>
              </a:defRPr>
            </a:pPr>
            <a:r>
              <a:t>216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3758183"/>
            <a:ext cx="10460736" cy="28346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800" b="1">
                <a:solidFill>
                  <a:srgbClr val="222930"/>
                </a:solidFill>
                <a:latin typeface="Aptos"/>
              </a:defRPr>
            </a:pPr>
            <a:r>
              <a:t>Recent Workouts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8680" y="4242816"/>
            <a:ext cx="5111496" cy="6949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398264"/>
            <a:ext cx="4745736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200" b="1">
                <a:solidFill>
                  <a:srgbClr val="222930"/>
                </a:solidFill>
                <a:latin typeface="Aptos"/>
              </a:defRPr>
            </a:pPr>
            <a:r>
              <a:t>Squats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4663440"/>
            <a:ext cx="4745736" cy="16459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9AA3AA"/>
                </a:solidFill>
                <a:latin typeface="Aptos"/>
              </a:defRPr>
            </a:pPr>
            <a:r>
              <a:t>3 Sets × 12 Reps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81344" y="4242816"/>
            <a:ext cx="5111496" cy="6949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64224" y="4398264"/>
            <a:ext cx="4745736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200" b="1">
                <a:solidFill>
                  <a:srgbClr val="222930"/>
                </a:solidFill>
                <a:latin typeface="Aptos"/>
              </a:defRPr>
            </a:pPr>
            <a:r>
              <a:t>Chest Press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4224" y="4663440"/>
            <a:ext cx="4745736" cy="16459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9AA3AA"/>
                </a:solidFill>
                <a:latin typeface="Aptos"/>
              </a:defRPr>
            </a:pPr>
            <a:r>
              <a:t>3 Sets × 12 Reps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68680" y="5065776"/>
            <a:ext cx="5111496" cy="6949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1560" y="5221224"/>
            <a:ext cx="4745736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200" b="1">
                <a:solidFill>
                  <a:srgbClr val="222930"/>
                </a:solidFill>
                <a:latin typeface="Aptos"/>
              </a:defRPr>
            </a:pPr>
            <a:r>
              <a:t>T-Bar Row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" y="5486400"/>
            <a:ext cx="4745736" cy="16459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9AA3AA"/>
                </a:solidFill>
                <a:latin typeface="Aptos"/>
              </a:defRPr>
            </a:pPr>
            <a:r>
              <a:t>3 Sets × 12 Reps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81344" y="5065776"/>
            <a:ext cx="5111496" cy="6949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64224" y="5221224"/>
            <a:ext cx="4745736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200" b="1">
                <a:solidFill>
                  <a:srgbClr val="222930"/>
                </a:solidFill>
                <a:latin typeface="Aptos"/>
              </a:defRPr>
            </a:pPr>
            <a:r>
              <a:t>Cable Lateral Raise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64224" y="5486400"/>
            <a:ext cx="4745736" cy="16459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9AA3AA"/>
                </a:solidFill>
                <a:latin typeface="Aptos"/>
              </a:defRPr>
            </a:pPr>
            <a:r>
              <a:t>3 Sets × 12 Reps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68680" y="5888736"/>
            <a:ext cx="5111496" cy="6949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51560" y="6044184"/>
            <a:ext cx="4745736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200" b="1">
                <a:solidFill>
                  <a:srgbClr val="222930"/>
                </a:solidFill>
                <a:latin typeface="Aptos"/>
              </a:defRPr>
            </a:pPr>
            <a:r>
              <a:t>Biceps Curl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" y="6309360"/>
            <a:ext cx="4745736" cy="16459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9AA3AA"/>
                </a:solidFill>
                <a:latin typeface="Aptos"/>
              </a:defRPr>
            </a:pPr>
            <a:r>
              <a:t>3 Sets × 12 Reps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81344" y="5888736"/>
            <a:ext cx="5111496" cy="6949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64224" y="6044184"/>
            <a:ext cx="4745736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200" b="1">
                <a:solidFill>
                  <a:srgbClr val="222930"/>
                </a:solidFill>
                <a:latin typeface="Aptos"/>
              </a:defRPr>
            </a:pPr>
            <a:r>
              <a:t>Front Shoulder Raise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64224" y="6309360"/>
            <a:ext cx="4745736" cy="16459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9AA3AA"/>
                </a:solidFill>
                <a:latin typeface="Aptos"/>
              </a:defRPr>
            </a:pPr>
            <a:r>
              <a:t>3 Sets × 12 Reps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6072" y="6611112"/>
            <a:ext cx="8229600" cy="13716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0">
                <a:solidFill>
                  <a:srgbClr val="65717A"/>
                </a:solidFill>
                <a:latin typeface="Aptos"/>
              </a:defRPr>
            </a:pPr>
            <a:r>
              <a:t>FITTRACK / WIREFRAMES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822960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300" b="1">
                <a:solidFill>
                  <a:srgbClr val="1C252B"/>
                </a:solidFill>
                <a:latin typeface="Aptos"/>
              </a:defRPr>
            </a:pPr>
            <a:r>
              <a:t>Workout History  /  Mobile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292608"/>
            <a:ext cx="1737360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000" b="1">
                <a:solidFill>
                  <a:srgbClr val="5B6973"/>
                </a:solidFill>
                <a:latin typeface="Aptos"/>
              </a:defRPr>
            </a:pPr>
            <a:r>
              <a:t>YOUSRY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57784" y="722376"/>
            <a:ext cx="11082528" cy="22860"/>
          </a:xfrm>
          <a:prstGeom prst="rect">
            <a:avLst/>
          </a:prstGeom>
          <a:solidFill>
            <a:srgbClr val="B6B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51960" y="905256"/>
            <a:ext cx="3675887" cy="5650992"/>
          </a:xfrm>
          <a:prstGeom prst="roundRect">
            <a:avLst>
              <a:gd name="adj" fmla="val 12000"/>
            </a:avLst>
          </a:prstGeom>
          <a:solidFill>
            <a:srgbClr val="F5F6F7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34256" y="996696"/>
            <a:ext cx="3511295" cy="4297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1416" y="1097280"/>
            <a:ext cx="1645920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9AA3AA"/>
                </a:solidFill>
                <a:latin typeface="Aptos"/>
              </a:defRPr>
            </a:pPr>
            <a:r>
              <a:t>FitTrack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106424"/>
            <a:ext cx="310896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500" b="1">
                <a:solidFill>
                  <a:srgbClr val="222930"/>
                </a:solidFill>
                <a:latin typeface="Aptos"/>
              </a:defRPr>
            </a:pPr>
            <a:r>
              <a:t>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2907792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65727C"/>
                </a:solidFill>
                <a:latin typeface="Aptos"/>
              </a:defRPr>
            </a:pPr>
            <a:r>
              <a:t>MOBILE VERSION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11680"/>
            <a:ext cx="2926080" cy="10972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0">
                <a:solidFill>
                  <a:srgbClr val="64717B"/>
                </a:solidFill>
                <a:latin typeface="Aptos"/>
              </a:defRPr>
            </a:pPr>
            <a:r>
              <a:t>Single-column layout</a:t>
            </a:r>
          </a:p>
          <a:p>
            <a:pPr>
              <a:defRPr sz="1300" b="0">
                <a:solidFill>
                  <a:srgbClr val="64717B"/>
                </a:solidFill>
                <a:latin typeface="Aptos"/>
              </a:defRPr>
            </a:pPr>
            <a:r>
              <a:t>Touch-friendly controls</a:t>
            </a:r>
          </a:p>
          <a:p>
            <a:pPr>
              <a:defRPr sz="1300" b="0">
                <a:solidFill>
                  <a:srgbClr val="64717B"/>
                </a:solidFill>
                <a:latin typeface="Aptos"/>
              </a:defRPr>
            </a:pPr>
            <a:r>
              <a:t>Compact navigation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1463040"/>
            <a:ext cx="292608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65727C"/>
                </a:solidFill>
                <a:latin typeface="Aptos"/>
              </a:defRPr>
            </a:pPr>
            <a:r>
              <a:t>SCREEN CONTENT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94192" y="2011680"/>
            <a:ext cx="2788920" cy="11887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0">
                <a:solidFill>
                  <a:srgbClr val="64717B"/>
                </a:solidFill>
                <a:latin typeface="Aptos"/>
              </a:defRPr>
            </a:pPr>
            <a:r>
              <a:t>The same information is reorganized for small screens.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5696" y="1609344"/>
            <a:ext cx="2743200" cy="31089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222930"/>
                </a:solidFill>
                <a:latin typeface="Aptos"/>
              </a:defRPr>
            </a:pPr>
            <a:r>
              <a:t>Workout History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696" y="1984248"/>
            <a:ext cx="2834640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77828B"/>
                </a:solidFill>
                <a:latin typeface="Aptos"/>
              </a:defRPr>
            </a:pPr>
            <a:r>
              <a:t>A simple overview of your workouts.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25696" y="2377440"/>
            <a:ext cx="3328415" cy="4480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2856" y="2487168"/>
            <a:ext cx="1645920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Total Workouts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441448"/>
            <a:ext cx="566928" cy="26517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800" b="1">
                <a:solidFill>
                  <a:srgbClr val="9AA3AA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25696" y="2898648"/>
            <a:ext cx="3328415" cy="4480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62856" y="3008375"/>
            <a:ext cx="1645920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Total Sets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2962656"/>
            <a:ext cx="566928" cy="26517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800" b="1">
                <a:solidFill>
                  <a:srgbClr val="9AA3AA"/>
                </a:solidFill>
                <a:latin typeface="Aptos"/>
              </a:defRPr>
            </a:pPr>
            <a:r>
              <a:t>18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25696" y="3419856"/>
            <a:ext cx="3328415" cy="4480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2856" y="3529583"/>
            <a:ext cx="1645920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Total Reps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3483863"/>
            <a:ext cx="566928" cy="26517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800" b="1">
                <a:solidFill>
                  <a:srgbClr val="9AA3AA"/>
                </a:solidFill>
                <a:latin typeface="Aptos"/>
              </a:defRPr>
            </a:pPr>
            <a:r>
              <a:t>216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5696" y="4069080"/>
            <a:ext cx="3328415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400" b="1">
                <a:solidFill>
                  <a:srgbClr val="222930"/>
                </a:solidFill>
                <a:latin typeface="Aptos"/>
              </a:defRPr>
            </a:pPr>
            <a:r>
              <a:t>Recent Workouts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25696" y="4443984"/>
            <a:ext cx="3328415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62856" y="4526280"/>
            <a:ext cx="1554480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1">
                <a:solidFill>
                  <a:srgbClr val="222930"/>
                </a:solidFill>
                <a:latin typeface="Aptos"/>
              </a:defRPr>
            </a:pPr>
            <a:r>
              <a:t>Squats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65392" y="4535424"/>
            <a:ext cx="1033271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800" b="1">
                <a:solidFill>
                  <a:srgbClr val="9AA3AA"/>
                </a:solidFill>
                <a:latin typeface="Aptos"/>
              </a:defRPr>
            </a:pPr>
            <a:r>
              <a:t>3 × 12 Reps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25696" y="4946904"/>
            <a:ext cx="3328415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62856" y="5029200"/>
            <a:ext cx="1554480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1">
                <a:solidFill>
                  <a:srgbClr val="222930"/>
                </a:solidFill>
                <a:latin typeface="Aptos"/>
              </a:defRPr>
            </a:pPr>
            <a:r>
              <a:t>Chest Press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65392" y="5038344"/>
            <a:ext cx="1033271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800" b="1">
                <a:solidFill>
                  <a:srgbClr val="9AA3AA"/>
                </a:solidFill>
                <a:latin typeface="Aptos"/>
              </a:defRPr>
            </a:pPr>
            <a:r>
              <a:t>3 × 12 Reps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25696" y="5449824"/>
            <a:ext cx="3328415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62856" y="5532120"/>
            <a:ext cx="1554480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1">
                <a:solidFill>
                  <a:srgbClr val="222930"/>
                </a:solidFill>
                <a:latin typeface="Aptos"/>
              </a:defRPr>
            </a:pPr>
            <a:r>
              <a:t>T-Bar Row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65392" y="5541264"/>
            <a:ext cx="1033271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800" b="1">
                <a:solidFill>
                  <a:srgbClr val="9AA3AA"/>
                </a:solidFill>
                <a:latin typeface="Aptos"/>
              </a:defRPr>
            </a:pPr>
            <a:r>
              <a:t>3 × 12 Reps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25696" y="5952744"/>
            <a:ext cx="3328415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62856" y="6035040"/>
            <a:ext cx="1554480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1">
                <a:solidFill>
                  <a:srgbClr val="222930"/>
                </a:solidFill>
                <a:latin typeface="Aptos"/>
              </a:defRPr>
            </a:pPr>
            <a:r>
              <a:t>Cable Lateral Raise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65392" y="6044184"/>
            <a:ext cx="1033271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800" b="1">
                <a:solidFill>
                  <a:srgbClr val="9AA3AA"/>
                </a:solidFill>
                <a:latin typeface="Aptos"/>
              </a:defRPr>
            </a:pPr>
            <a:r>
              <a:t>3 × 12 Reps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25696" y="6455664"/>
            <a:ext cx="3328415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62856" y="6537960"/>
            <a:ext cx="1554480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1">
                <a:solidFill>
                  <a:srgbClr val="222930"/>
                </a:solidFill>
                <a:latin typeface="Aptos"/>
              </a:defRPr>
            </a:pPr>
            <a:r>
              <a:t>Biceps Curl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65392" y="6547104"/>
            <a:ext cx="1033271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800" b="1">
                <a:solidFill>
                  <a:srgbClr val="9AA3AA"/>
                </a:solidFill>
                <a:latin typeface="Aptos"/>
              </a:defRPr>
            </a:pPr>
            <a:r>
              <a:t>3 × 12 Reps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6072" y="6611112"/>
            <a:ext cx="8229600" cy="13716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0">
                <a:solidFill>
                  <a:srgbClr val="65717A"/>
                </a:solidFill>
                <a:latin typeface="Aptos"/>
              </a:defRPr>
            </a:pPr>
            <a:r>
              <a:t>FITTRACK / WIREFRAMES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822960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300" b="1">
                <a:solidFill>
                  <a:srgbClr val="1C252B"/>
                </a:solidFill>
                <a:latin typeface="Aptos"/>
              </a:defRPr>
            </a:pPr>
            <a:r>
              <a:t>Profile  /  Desktop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292608"/>
            <a:ext cx="1737360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000" b="1">
                <a:solidFill>
                  <a:srgbClr val="5B6973"/>
                </a:solidFill>
                <a:latin typeface="Aptos"/>
              </a:defRPr>
            </a:pPr>
            <a:r>
              <a:t>ESLAM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57784" y="722376"/>
            <a:ext cx="11082528" cy="22860"/>
          </a:xfrm>
          <a:prstGeom prst="rect">
            <a:avLst/>
          </a:prstGeom>
          <a:solidFill>
            <a:srgbClr val="B6B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905256"/>
            <a:ext cx="11100816" cy="5641848"/>
          </a:xfrm>
          <a:prstGeom prst="roundRect">
            <a:avLst>
              <a:gd name="adj" fmla="val 12000"/>
            </a:avLst>
          </a:prstGeom>
          <a:solidFill>
            <a:srgbClr val="F5F6F7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987552"/>
            <a:ext cx="10954512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3" y="1097280"/>
            <a:ext cx="1463040" cy="32004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700" b="1">
                <a:solidFill>
                  <a:srgbClr val="9AA3AA"/>
                </a:solidFill>
                <a:latin typeface="Aptos"/>
              </a:defRPr>
            </a:pPr>
            <a:r>
              <a:t>FitTrack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8568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Home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3547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8526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Exercises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3506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My Routine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78485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83465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1">
                <a:solidFill>
                  <a:srgbClr val="9AA3AA"/>
                </a:solidFill>
                <a:latin typeface="Aptos"/>
              </a:defRPr>
            </a:pPr>
            <a:r>
              <a:t>Profile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88444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Login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1755648"/>
            <a:ext cx="5486400" cy="31089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100" b="1">
                <a:solidFill>
                  <a:srgbClr val="222930"/>
                </a:solidFill>
                <a:latin typeface="Aptos"/>
              </a:defRPr>
            </a:pPr>
            <a:r>
              <a:t>My 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130552"/>
            <a:ext cx="6400800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Your account and fitness goals.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2551176"/>
            <a:ext cx="10460736" cy="10607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78992" y="2743200"/>
            <a:ext cx="704088" cy="704088"/>
          </a:xfrm>
          <a:prstGeom prst="roundRect">
            <a:avLst>
              <a:gd name="adj" fmla="val 12000"/>
            </a:avLst>
          </a:prstGeom>
          <a:solidFill>
            <a:srgbClr val="E5E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33856" y="2953512"/>
            <a:ext cx="603504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800" b="1">
                <a:solidFill>
                  <a:srgbClr val="9AA3AA"/>
                </a:solidFill>
                <a:latin typeface="Aptos"/>
              </a:defRPr>
            </a:pPr>
            <a:r>
              <a:t>JD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93391" y="2770632"/>
            <a:ext cx="6276441" cy="28346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900" b="1">
                <a:solidFill>
                  <a:srgbClr val="222930"/>
                </a:solidFill>
                <a:latin typeface="Aptos"/>
              </a:defRPr>
            </a:pPr>
            <a:r>
              <a:t>John Doe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93391" y="3118104"/>
            <a:ext cx="6276441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100" b="0">
                <a:solidFill>
                  <a:srgbClr val="77828B"/>
                </a:solidFill>
                <a:latin typeface="Aptos"/>
              </a:defRPr>
            </a:pPr>
            <a:r>
              <a:t>john@example.com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" y="3822191"/>
            <a:ext cx="3322320" cy="9326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68680" y="3822191"/>
            <a:ext cx="3322320" cy="45720"/>
          </a:xfrm>
          <a:prstGeom prst="rect">
            <a:avLst/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7" y="3986783"/>
            <a:ext cx="3048000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Total Workouts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7" y="4251959"/>
            <a:ext cx="3048000" cy="39319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400" b="1">
                <a:solidFill>
                  <a:srgbClr val="9AA3AA"/>
                </a:solidFill>
                <a:latin typeface="Aptos"/>
              </a:defRPr>
            </a:pPr>
            <a:r>
              <a:t>24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19600" y="3822191"/>
            <a:ext cx="3322320" cy="9326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9600" y="3822191"/>
            <a:ext cx="3322320" cy="45720"/>
          </a:xfrm>
          <a:prstGeom prst="rect">
            <a:avLst/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5048" y="3986783"/>
            <a:ext cx="3048000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Active Streak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5048" y="4251959"/>
            <a:ext cx="3048000" cy="39319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400" b="1">
                <a:solidFill>
                  <a:srgbClr val="9AA3AA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70520" y="3822191"/>
            <a:ext cx="3322320" cy="9326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70520" y="3822191"/>
            <a:ext cx="3322320" cy="45720"/>
          </a:xfrm>
          <a:prstGeom prst="rect">
            <a:avLst/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25968" y="3986783"/>
            <a:ext cx="3048000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Calories Burned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5968" y="4251959"/>
            <a:ext cx="3048000" cy="39319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400" b="1">
                <a:solidFill>
                  <a:srgbClr val="9AA3AA"/>
                </a:solidFill>
                <a:latin typeface="Aptos"/>
              </a:defRPr>
            </a:pPr>
            <a:r>
              <a:t>4,850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8680" y="5093208"/>
            <a:ext cx="5021153" cy="19385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203655" y="5093208"/>
            <a:ext cx="5125760" cy="19385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560" y="5285231"/>
            <a:ext cx="4184294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222930"/>
                </a:solidFill>
                <a:latin typeface="Aptos"/>
              </a:defRPr>
            </a:pPr>
            <a:r>
              <a:t>Personal Information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" y="5724144"/>
            <a:ext cx="4184294" cy="106984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Full Name       John Doe</a:t>
            </a:r>
          </a:p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Email               john@example.com</a:t>
            </a:r>
          </a:p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Age                  22 years</a:t>
            </a:r>
          </a:p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Height             178 cm</a:t>
            </a:r>
          </a:p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Weight             75 kg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12870" y="5285231"/>
            <a:ext cx="4393509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222930"/>
                </a:solidFill>
                <a:latin typeface="Aptos"/>
              </a:defRPr>
            </a:pPr>
            <a:r>
              <a:t>Fitness Goals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12870" y="5733288"/>
            <a:ext cx="4393509" cy="75895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Main Goal        Build Muscle</a:t>
            </a:r>
          </a:p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Experience       Beginner</a:t>
            </a:r>
          </a:p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Weekly Target    5 Days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12870" y="6638544"/>
            <a:ext cx="4288901" cy="118872"/>
          </a:xfrm>
          <a:prstGeom prst="roundRect">
            <a:avLst>
              <a:gd name="adj" fmla="val 12000"/>
            </a:avLst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412870" y="6638544"/>
            <a:ext cx="3431121" cy="118872"/>
          </a:xfrm>
          <a:prstGeom prst="roundRect">
            <a:avLst>
              <a:gd name="adj" fmla="val 12000"/>
            </a:avLst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76072" y="6611112"/>
            <a:ext cx="8229600" cy="13716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0">
                <a:solidFill>
                  <a:srgbClr val="65717A"/>
                </a:solidFill>
                <a:latin typeface="Aptos"/>
              </a:defRPr>
            </a:pPr>
            <a:r>
              <a:t>FITTRACK / WIREFRAMES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822960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300" b="1">
                <a:solidFill>
                  <a:srgbClr val="1C252B"/>
                </a:solidFill>
                <a:latin typeface="Aptos"/>
              </a:defRPr>
            </a:pPr>
            <a:r>
              <a:t>Profile  /  Mobile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292608"/>
            <a:ext cx="1737360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000" b="1">
                <a:solidFill>
                  <a:srgbClr val="5B6973"/>
                </a:solidFill>
                <a:latin typeface="Aptos"/>
              </a:defRPr>
            </a:pPr>
            <a:r>
              <a:t>ESLAM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57784" y="722376"/>
            <a:ext cx="11082528" cy="22860"/>
          </a:xfrm>
          <a:prstGeom prst="rect">
            <a:avLst/>
          </a:prstGeom>
          <a:solidFill>
            <a:srgbClr val="B6B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51960" y="905256"/>
            <a:ext cx="3675887" cy="5650992"/>
          </a:xfrm>
          <a:prstGeom prst="roundRect">
            <a:avLst>
              <a:gd name="adj" fmla="val 12000"/>
            </a:avLst>
          </a:prstGeom>
          <a:solidFill>
            <a:srgbClr val="F5F6F7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34256" y="996696"/>
            <a:ext cx="3511295" cy="4297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1416" y="1097280"/>
            <a:ext cx="1645920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9AA3AA"/>
                </a:solidFill>
                <a:latin typeface="Aptos"/>
              </a:defRPr>
            </a:pPr>
            <a:r>
              <a:t>FitTrack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106424"/>
            <a:ext cx="310896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500" b="1">
                <a:solidFill>
                  <a:srgbClr val="222930"/>
                </a:solidFill>
                <a:latin typeface="Aptos"/>
              </a:defRPr>
            </a:pPr>
            <a:r>
              <a:t>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2907792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65727C"/>
                </a:solidFill>
                <a:latin typeface="Aptos"/>
              </a:defRPr>
            </a:pPr>
            <a:r>
              <a:t>MOBILE VERSION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11680"/>
            <a:ext cx="2926080" cy="10972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0">
                <a:solidFill>
                  <a:srgbClr val="64717B"/>
                </a:solidFill>
                <a:latin typeface="Aptos"/>
              </a:defRPr>
            </a:pPr>
            <a:r>
              <a:t>Single-column layout</a:t>
            </a:r>
          </a:p>
          <a:p>
            <a:pPr>
              <a:defRPr sz="1300" b="0">
                <a:solidFill>
                  <a:srgbClr val="64717B"/>
                </a:solidFill>
                <a:latin typeface="Aptos"/>
              </a:defRPr>
            </a:pPr>
            <a:r>
              <a:t>Touch-friendly controls</a:t>
            </a:r>
          </a:p>
          <a:p>
            <a:pPr>
              <a:defRPr sz="1300" b="0">
                <a:solidFill>
                  <a:srgbClr val="64717B"/>
                </a:solidFill>
                <a:latin typeface="Aptos"/>
              </a:defRPr>
            </a:pPr>
            <a:r>
              <a:t>Compact navigation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1463040"/>
            <a:ext cx="292608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65727C"/>
                </a:solidFill>
                <a:latin typeface="Aptos"/>
              </a:defRPr>
            </a:pPr>
            <a:r>
              <a:t>SCREEN CONTENT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94192" y="2011680"/>
            <a:ext cx="2788920" cy="11887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0">
                <a:solidFill>
                  <a:srgbClr val="64717B"/>
                </a:solidFill>
                <a:latin typeface="Aptos"/>
              </a:defRPr>
            </a:pPr>
            <a:r>
              <a:t>The same information is reorganized for small screens.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5696" y="1609344"/>
            <a:ext cx="2743200" cy="31089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222930"/>
                </a:solidFill>
                <a:latin typeface="Aptos"/>
              </a:defRPr>
            </a:pPr>
            <a:r>
              <a:t>My Profile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696" y="1984248"/>
            <a:ext cx="2834640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77828B"/>
                </a:solidFill>
                <a:latin typeface="Aptos"/>
              </a:defRPr>
            </a:pPr>
            <a:r>
              <a:t>Your account and fitness goals.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25696" y="2368296"/>
            <a:ext cx="3328415" cy="104241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81144" y="2569464"/>
            <a:ext cx="649224" cy="649224"/>
          </a:xfrm>
          <a:prstGeom prst="roundRect">
            <a:avLst>
              <a:gd name="adj" fmla="val 12000"/>
            </a:avLst>
          </a:prstGeom>
          <a:solidFill>
            <a:srgbClr val="E5E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99432" y="2761488"/>
            <a:ext cx="621792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700" b="1">
                <a:solidFill>
                  <a:srgbClr val="9AA3AA"/>
                </a:solidFill>
                <a:latin typeface="Aptos"/>
              </a:defRPr>
            </a:pPr>
            <a:r>
              <a:t>JD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096" y="2596896"/>
            <a:ext cx="2231135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400" b="1">
                <a:solidFill>
                  <a:srgbClr val="222930"/>
                </a:solidFill>
                <a:latin typeface="Aptos"/>
              </a:defRPr>
            </a:pPr>
            <a:r>
              <a:t>John Doe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0096" y="2962656"/>
            <a:ext cx="2231135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77828B"/>
                </a:solidFill>
                <a:latin typeface="Aptos"/>
              </a:defRPr>
            </a:pPr>
            <a:r>
              <a:t>john@example.com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25696" y="3584448"/>
            <a:ext cx="1045463" cy="6949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25696" y="3712463"/>
            <a:ext cx="1045463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00" b="0">
                <a:solidFill>
                  <a:srgbClr val="77828B"/>
                </a:solidFill>
                <a:latin typeface="Aptos"/>
              </a:defRPr>
            </a:pPr>
            <a:r>
              <a:t>Workouts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5696" y="3950208"/>
            <a:ext cx="1045463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600" b="1">
                <a:solidFill>
                  <a:srgbClr val="9AA3AA"/>
                </a:solidFill>
                <a:latin typeface="Aptos"/>
              </a:defRPr>
            </a:pPr>
            <a:r>
              <a:t>24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62600" y="3584448"/>
            <a:ext cx="1045463" cy="6949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62600" y="3712463"/>
            <a:ext cx="1045463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00" b="0">
                <a:solidFill>
                  <a:srgbClr val="77828B"/>
                </a:solidFill>
                <a:latin typeface="Aptos"/>
              </a:defRPr>
            </a:pPr>
            <a:r>
              <a:t>Streak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62600" y="3950208"/>
            <a:ext cx="1045463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600" b="1">
                <a:solidFill>
                  <a:srgbClr val="9AA3AA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99504" y="3584448"/>
            <a:ext cx="1045463" cy="6949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99504" y="3712463"/>
            <a:ext cx="1045463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00" b="0">
                <a:solidFill>
                  <a:srgbClr val="77828B"/>
                </a:solidFill>
                <a:latin typeface="Aptos"/>
              </a:defRPr>
            </a:pPr>
            <a:r>
              <a:t>Calories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99504" y="3950208"/>
            <a:ext cx="1045463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600" b="1">
                <a:solidFill>
                  <a:srgbClr val="9AA3AA"/>
                </a:solidFill>
                <a:latin typeface="Aptos"/>
              </a:defRPr>
            </a:pPr>
            <a:r>
              <a:t>4,850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25696" y="4462272"/>
            <a:ext cx="3328415" cy="12618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62856" y="4599432"/>
            <a:ext cx="3099815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1">
                <a:solidFill>
                  <a:srgbClr val="222930"/>
                </a:solidFill>
                <a:latin typeface="Aptos"/>
              </a:defRPr>
            </a:pPr>
            <a:r>
              <a:t>Personal Information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62856" y="4919472"/>
            <a:ext cx="3054096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Age  22 years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62856" y="5138928"/>
            <a:ext cx="3054096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Height  178 cm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62856" y="5358383"/>
            <a:ext cx="3054096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Weight  75 kg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25696" y="5907024"/>
            <a:ext cx="3328415" cy="104241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62856" y="6025896"/>
            <a:ext cx="3054096" cy="24688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1">
                <a:solidFill>
                  <a:srgbClr val="222930"/>
                </a:solidFill>
                <a:latin typeface="Aptos"/>
              </a:defRPr>
            </a:pPr>
            <a:r>
              <a:t>Fitness Goals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62856" y="6345936"/>
            <a:ext cx="3054096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Build Muscle / Beginner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62856" y="6656831"/>
            <a:ext cx="3054096" cy="118872"/>
          </a:xfrm>
          <a:prstGeom prst="roundRect">
            <a:avLst>
              <a:gd name="adj" fmla="val 12000"/>
            </a:avLst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562856" y="6656831"/>
            <a:ext cx="2443276" cy="118872"/>
          </a:xfrm>
          <a:prstGeom prst="roundRect">
            <a:avLst>
              <a:gd name="adj" fmla="val 12000"/>
            </a:avLst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6072" y="6611112"/>
            <a:ext cx="8229600" cy="13716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0">
                <a:solidFill>
                  <a:srgbClr val="65717A"/>
                </a:solidFill>
                <a:latin typeface="Aptos"/>
              </a:defRPr>
            </a:pPr>
            <a:r>
              <a:t>FITTRACK / WIREFRAMES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822960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300" b="1">
                <a:solidFill>
                  <a:srgbClr val="1C252B"/>
                </a:solidFill>
                <a:latin typeface="Aptos"/>
              </a:defRPr>
            </a:pPr>
            <a:r>
              <a:t>Login  /  Desktop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292608"/>
            <a:ext cx="1737360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000" b="1">
                <a:solidFill>
                  <a:srgbClr val="5B6973"/>
                </a:solidFill>
                <a:latin typeface="Aptos"/>
              </a:defRPr>
            </a:pPr>
            <a:r>
              <a:t>AMMAR</a:t>
            </a:r>
          </a:p>
        </p:txBody>
      </p:sp>
      <p:sp>
        <p:nvSpPr>
          <p:cNvPr id="5" name="Rectangle 4"/>
          <p:cNvSpPr/>
          <p:nvPr/>
        </p:nvSpPr>
        <p:spPr>
          <a:xfrm>
            <a:off x="557784" y="722376"/>
            <a:ext cx="11082528" cy="22860"/>
          </a:xfrm>
          <a:prstGeom prst="rect">
            <a:avLst/>
          </a:prstGeom>
          <a:solidFill>
            <a:srgbClr val="B6B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905256"/>
            <a:ext cx="11100816" cy="5641848"/>
          </a:xfrm>
          <a:prstGeom prst="roundRect">
            <a:avLst>
              <a:gd name="adj" fmla="val 12000"/>
            </a:avLst>
          </a:prstGeom>
          <a:solidFill>
            <a:srgbClr val="F5F6F7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987552"/>
            <a:ext cx="10954512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3" y="1097280"/>
            <a:ext cx="1463040" cy="32004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700" b="1">
                <a:solidFill>
                  <a:srgbClr val="9AA3AA"/>
                </a:solidFill>
                <a:latin typeface="Aptos"/>
              </a:defRPr>
            </a:pPr>
            <a:r>
              <a:t>FitTrack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8568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Home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3547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8526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Exercises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3506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My Routine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78485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83465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Profile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88444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1">
                <a:solidFill>
                  <a:srgbClr val="9AA3AA"/>
                </a:solidFill>
                <a:latin typeface="Aptos"/>
              </a:defRPr>
            </a:pPr>
            <a:r>
              <a:t>Login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81328" y="2322576"/>
            <a:ext cx="9235440" cy="44165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481328" y="2322576"/>
            <a:ext cx="4248302" cy="4416552"/>
          </a:xfrm>
          <a:prstGeom prst="rect">
            <a:avLst/>
          </a:prstGeom>
          <a:solidFill>
            <a:srgbClr val="E5E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65376" y="3127248"/>
            <a:ext cx="3509467" cy="105156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600" b="1">
                <a:solidFill>
                  <a:srgbClr val="9AA3AA"/>
                </a:solidFill>
                <a:latin typeface="Aptos"/>
              </a:defRPr>
            </a:pPr>
            <a:r>
              <a:t>Your fitness</a:t>
            </a:r>
          </a:p>
          <a:p>
            <a:pPr>
              <a:defRPr sz="2600" b="1">
                <a:solidFill>
                  <a:srgbClr val="9AA3AA"/>
                </a:solidFill>
                <a:latin typeface="Aptos"/>
              </a:defRPr>
            </a:pPr>
            <a:r>
              <a:t>starts here.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65376" y="4608576"/>
            <a:ext cx="3324758" cy="7315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200" b="0">
                <a:solidFill>
                  <a:srgbClr val="222930"/>
                </a:solidFill>
                <a:latin typeface="Aptos"/>
              </a:defRPr>
            </a:pPr>
            <a:r>
              <a:t>Plan sessions and keep your training on track.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78931" y="2734056"/>
            <a:ext cx="4155948" cy="37490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100" b="1">
                <a:solidFill>
                  <a:srgbClr val="222930"/>
                </a:solidFill>
                <a:latin typeface="Aptos"/>
              </a:defRPr>
            </a:pPr>
            <a:r>
              <a:t>Welcome 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78931" y="3163824"/>
            <a:ext cx="4155948" cy="24688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Continue your fitness journey.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78931" y="3538728"/>
            <a:ext cx="4155948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1">
                <a:solidFill>
                  <a:srgbClr val="222930"/>
                </a:solidFill>
                <a:latin typeface="Aptos"/>
              </a:defRPr>
            </a:pPr>
            <a:r>
              <a:t>Email Address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78931" y="3758184"/>
            <a:ext cx="4155948" cy="320040"/>
          </a:xfrm>
          <a:prstGeom prst="roundRect">
            <a:avLst>
              <a:gd name="adj" fmla="val 12000"/>
            </a:avLst>
          </a:prstGeom>
          <a:solidFill>
            <a:srgbClr val="E9ECE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78931" y="4151376"/>
            <a:ext cx="4155948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1">
                <a:solidFill>
                  <a:srgbClr val="222930"/>
                </a:solidFill>
                <a:latin typeface="Aptos"/>
              </a:defRPr>
            </a:pPr>
            <a:r>
              <a:t>Password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78931" y="4370832"/>
            <a:ext cx="4155948" cy="320040"/>
          </a:xfrm>
          <a:prstGeom prst="roundRect">
            <a:avLst>
              <a:gd name="adj" fmla="val 12000"/>
            </a:avLst>
          </a:prstGeom>
          <a:solidFill>
            <a:srgbClr val="E9ECE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78931" y="4837176"/>
            <a:ext cx="4155948" cy="21945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77828B"/>
                </a:solidFill>
                <a:latin typeface="Aptos"/>
              </a:defRPr>
            </a:pPr>
            <a:r>
              <a:t>☐  Remember me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78931" y="5202936"/>
            <a:ext cx="4155948" cy="365760"/>
          </a:xfrm>
          <a:prstGeom prst="roundRect">
            <a:avLst>
              <a:gd name="adj" fmla="val 12000"/>
            </a:avLst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78931" y="5262372"/>
            <a:ext cx="4155948" cy="32918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Login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78931" y="5724144"/>
            <a:ext cx="4155948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900" b="0">
                <a:solidFill>
                  <a:srgbClr val="77828B"/>
                </a:solidFill>
                <a:latin typeface="Aptos"/>
              </a:defRPr>
            </a:pPr>
            <a:r>
              <a:t>New here? Create Account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6072" y="6611112"/>
            <a:ext cx="8229600" cy="13716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0">
                <a:solidFill>
                  <a:srgbClr val="65717A"/>
                </a:solidFill>
                <a:latin typeface="Aptos"/>
              </a:defRPr>
            </a:pPr>
            <a:r>
              <a:t>FITTRACK / WIREFRAMES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822960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300" b="1">
                <a:solidFill>
                  <a:srgbClr val="1C252B"/>
                </a:solidFill>
                <a:latin typeface="Aptos"/>
              </a:defRPr>
            </a:pPr>
            <a:r>
              <a:t>Login  /  Mobile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292608"/>
            <a:ext cx="1737360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000" b="1">
                <a:solidFill>
                  <a:srgbClr val="5B6973"/>
                </a:solidFill>
                <a:latin typeface="Aptos"/>
              </a:defRPr>
            </a:pPr>
            <a:r>
              <a:t>AMMAR</a:t>
            </a:r>
          </a:p>
        </p:txBody>
      </p:sp>
      <p:sp>
        <p:nvSpPr>
          <p:cNvPr id="5" name="Rectangle 4"/>
          <p:cNvSpPr/>
          <p:nvPr/>
        </p:nvSpPr>
        <p:spPr>
          <a:xfrm>
            <a:off x="557784" y="722376"/>
            <a:ext cx="11082528" cy="22860"/>
          </a:xfrm>
          <a:prstGeom prst="rect">
            <a:avLst/>
          </a:prstGeom>
          <a:solidFill>
            <a:srgbClr val="B6B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51960" y="905256"/>
            <a:ext cx="3675887" cy="5650992"/>
          </a:xfrm>
          <a:prstGeom prst="roundRect">
            <a:avLst>
              <a:gd name="adj" fmla="val 12000"/>
            </a:avLst>
          </a:prstGeom>
          <a:solidFill>
            <a:srgbClr val="F5F6F7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34256" y="996696"/>
            <a:ext cx="3511295" cy="4297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1416" y="1097280"/>
            <a:ext cx="1645920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9AA3AA"/>
                </a:solidFill>
                <a:latin typeface="Aptos"/>
              </a:defRPr>
            </a:pPr>
            <a:r>
              <a:t>FitTrack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106424"/>
            <a:ext cx="310896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500" b="1">
                <a:solidFill>
                  <a:srgbClr val="222930"/>
                </a:solidFill>
                <a:latin typeface="Aptos"/>
              </a:defRPr>
            </a:pPr>
            <a:r>
              <a:t>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2907792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65727C"/>
                </a:solidFill>
                <a:latin typeface="Aptos"/>
              </a:defRPr>
            </a:pPr>
            <a:r>
              <a:t>MOBILE VERSION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11680"/>
            <a:ext cx="2926080" cy="10972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0">
                <a:solidFill>
                  <a:srgbClr val="64717B"/>
                </a:solidFill>
                <a:latin typeface="Aptos"/>
              </a:defRPr>
            </a:pPr>
            <a:r>
              <a:t>Single-column layout</a:t>
            </a:r>
          </a:p>
          <a:p>
            <a:pPr>
              <a:defRPr sz="1300" b="0">
                <a:solidFill>
                  <a:srgbClr val="64717B"/>
                </a:solidFill>
                <a:latin typeface="Aptos"/>
              </a:defRPr>
            </a:pPr>
            <a:r>
              <a:t>Touch-friendly controls</a:t>
            </a:r>
          </a:p>
          <a:p>
            <a:pPr>
              <a:defRPr sz="1300" b="0">
                <a:solidFill>
                  <a:srgbClr val="64717B"/>
                </a:solidFill>
                <a:latin typeface="Aptos"/>
              </a:defRPr>
            </a:pPr>
            <a:r>
              <a:t>Compact navigation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1463040"/>
            <a:ext cx="292608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65727C"/>
                </a:solidFill>
                <a:latin typeface="Aptos"/>
              </a:defRPr>
            </a:pPr>
            <a:r>
              <a:t>SCREEN CONTENT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94192" y="2011680"/>
            <a:ext cx="2788920" cy="11887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0">
                <a:solidFill>
                  <a:srgbClr val="64717B"/>
                </a:solidFill>
                <a:latin typeface="Aptos"/>
              </a:defRPr>
            </a:pPr>
            <a:r>
              <a:t>The same information is reorganized for small screens.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5696" y="1609344"/>
            <a:ext cx="2743200" cy="31089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222930"/>
                </a:solidFill>
                <a:latin typeface="Aptos"/>
              </a:defRPr>
            </a:pPr>
            <a:r>
              <a:t>Welcome 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696" y="1984248"/>
            <a:ext cx="2834640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77828B"/>
                </a:solidFill>
                <a:latin typeface="Aptos"/>
              </a:defRPr>
            </a:pPr>
            <a:r>
              <a:t>Your FitTrack account.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696" y="2660904"/>
            <a:ext cx="3328415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1">
                <a:solidFill>
                  <a:srgbClr val="222930"/>
                </a:solidFill>
                <a:latin typeface="Aptos"/>
              </a:defRPr>
            </a:pPr>
            <a:r>
              <a:t>Email Address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25696" y="2907792"/>
            <a:ext cx="3328415" cy="365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3008376"/>
            <a:ext cx="3054096" cy="17373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77828B"/>
                </a:solidFill>
                <a:latin typeface="Aptos"/>
              </a:defRPr>
            </a:pPr>
            <a:r>
              <a:t>Enter email address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25696" y="3364992"/>
            <a:ext cx="3328415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1">
                <a:solidFill>
                  <a:srgbClr val="222930"/>
                </a:solidFill>
                <a:latin typeface="Aptos"/>
              </a:defRPr>
            </a:pPr>
            <a:r>
              <a:t>Password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25696" y="3611880"/>
            <a:ext cx="3328415" cy="365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3712464"/>
            <a:ext cx="3054096" cy="17373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77828B"/>
                </a:solidFill>
                <a:latin typeface="Aptos"/>
              </a:defRPr>
            </a:pPr>
            <a:r>
              <a:t>Enter password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5696" y="4069080"/>
            <a:ext cx="3328415" cy="25603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77828B"/>
                </a:solidFill>
                <a:latin typeface="Aptos"/>
              </a:defRPr>
            </a:pPr>
            <a:r>
              <a:t>☐  Remember me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25696" y="4471416"/>
            <a:ext cx="3328415" cy="402336"/>
          </a:xfrm>
          <a:prstGeom prst="roundRect">
            <a:avLst>
              <a:gd name="adj" fmla="val 12000"/>
            </a:avLst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25696" y="4530852"/>
            <a:ext cx="3328415" cy="36576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Login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5696" y="5029200"/>
            <a:ext cx="3328415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0">
                <a:solidFill>
                  <a:srgbClr val="77828B"/>
                </a:solidFill>
                <a:latin typeface="Aptos"/>
              </a:defRPr>
            </a:pPr>
            <a:r>
              <a:t>New here? Create Account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72" y="6611112"/>
            <a:ext cx="8229600" cy="13716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0">
                <a:solidFill>
                  <a:srgbClr val="65717A"/>
                </a:solidFill>
                <a:latin typeface="Aptos"/>
              </a:defRPr>
            </a:pPr>
            <a:r>
              <a:t>FITTRACK / WIREFRAMES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822960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300" b="1">
                <a:solidFill>
                  <a:srgbClr val="1C252B"/>
                </a:solidFill>
                <a:latin typeface="Aptos"/>
              </a:defRPr>
            </a:pPr>
            <a:r>
              <a:t>Register  /  Desktop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292608"/>
            <a:ext cx="1737360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000" b="1">
                <a:solidFill>
                  <a:srgbClr val="5B6973"/>
                </a:solidFill>
                <a:latin typeface="Aptos"/>
              </a:defRPr>
            </a:pPr>
            <a:r>
              <a:t>AMMAR</a:t>
            </a:r>
          </a:p>
        </p:txBody>
      </p:sp>
      <p:sp>
        <p:nvSpPr>
          <p:cNvPr id="5" name="Rectangle 4"/>
          <p:cNvSpPr/>
          <p:nvPr/>
        </p:nvSpPr>
        <p:spPr>
          <a:xfrm>
            <a:off x="557784" y="722376"/>
            <a:ext cx="11082528" cy="22860"/>
          </a:xfrm>
          <a:prstGeom prst="rect">
            <a:avLst/>
          </a:prstGeom>
          <a:solidFill>
            <a:srgbClr val="B6B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905256"/>
            <a:ext cx="11100816" cy="5641848"/>
          </a:xfrm>
          <a:prstGeom prst="roundRect">
            <a:avLst>
              <a:gd name="adj" fmla="val 12000"/>
            </a:avLst>
          </a:prstGeom>
          <a:solidFill>
            <a:srgbClr val="F5F6F7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987552"/>
            <a:ext cx="10954512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3" y="1097280"/>
            <a:ext cx="1463040" cy="32004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700" b="1">
                <a:solidFill>
                  <a:srgbClr val="9AA3AA"/>
                </a:solidFill>
                <a:latin typeface="Aptos"/>
              </a:defRPr>
            </a:pPr>
            <a:r>
              <a:t>FitTrack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8568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Home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3547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8526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Exercises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3506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My Routine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78485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83465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Profile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88444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77828B"/>
                </a:solidFill>
                <a:latin typeface="Aptos"/>
              </a:defRPr>
            </a:pPr>
            <a:r>
              <a:t>Login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81328" y="2322576"/>
            <a:ext cx="9235440" cy="44165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481328" y="2322576"/>
            <a:ext cx="4248302" cy="4416552"/>
          </a:xfrm>
          <a:prstGeom prst="rect">
            <a:avLst/>
          </a:prstGeom>
          <a:solidFill>
            <a:srgbClr val="E5E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65376" y="3127248"/>
            <a:ext cx="3509467" cy="105156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600" b="1">
                <a:solidFill>
                  <a:srgbClr val="9AA3AA"/>
                </a:solidFill>
                <a:latin typeface="Aptos"/>
              </a:defRPr>
            </a:pPr>
            <a:r>
              <a:t>Your fitness</a:t>
            </a:r>
          </a:p>
          <a:p>
            <a:pPr>
              <a:defRPr sz="2600" b="1">
                <a:solidFill>
                  <a:srgbClr val="9AA3AA"/>
                </a:solidFill>
                <a:latin typeface="Aptos"/>
              </a:defRPr>
            </a:pPr>
            <a:r>
              <a:t>starts here.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65376" y="4608576"/>
            <a:ext cx="3324758" cy="7315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200" b="0">
                <a:solidFill>
                  <a:srgbClr val="222930"/>
                </a:solidFill>
                <a:latin typeface="Aptos"/>
              </a:defRPr>
            </a:pPr>
            <a:r>
              <a:t>Plan sessions and keep your training on track.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78931" y="2734056"/>
            <a:ext cx="4155948" cy="37490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100" b="1">
                <a:solidFill>
                  <a:srgbClr val="222930"/>
                </a:solidFill>
                <a:latin typeface="Aptos"/>
              </a:defRPr>
            </a:pPr>
            <a:r>
              <a:t>Create Account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78931" y="3163824"/>
            <a:ext cx="4155948" cy="24688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77828B"/>
                </a:solidFill>
                <a:latin typeface="Aptos"/>
              </a:defRPr>
            </a:pPr>
            <a:r>
              <a:t>Continue your fitness journey.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78931" y="3538728"/>
            <a:ext cx="4155948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1">
                <a:solidFill>
                  <a:srgbClr val="222930"/>
                </a:solidFill>
                <a:latin typeface="Aptos"/>
              </a:defRPr>
            </a:pPr>
            <a:r>
              <a:t>Full Name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78931" y="3758184"/>
            <a:ext cx="4155948" cy="320040"/>
          </a:xfrm>
          <a:prstGeom prst="roundRect">
            <a:avLst>
              <a:gd name="adj" fmla="val 12000"/>
            </a:avLst>
          </a:prstGeom>
          <a:solidFill>
            <a:srgbClr val="E9ECE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78931" y="4151376"/>
            <a:ext cx="4155948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1">
                <a:solidFill>
                  <a:srgbClr val="222930"/>
                </a:solidFill>
                <a:latin typeface="Aptos"/>
              </a:defRPr>
            </a:pPr>
            <a:r>
              <a:t>Email Address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78931" y="4370832"/>
            <a:ext cx="4155948" cy="320040"/>
          </a:xfrm>
          <a:prstGeom prst="roundRect">
            <a:avLst>
              <a:gd name="adj" fmla="val 12000"/>
            </a:avLst>
          </a:prstGeom>
          <a:solidFill>
            <a:srgbClr val="E9ECE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78931" y="4764024"/>
            <a:ext cx="4155948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1">
                <a:solidFill>
                  <a:srgbClr val="222930"/>
                </a:solidFill>
                <a:latin typeface="Aptos"/>
              </a:defRPr>
            </a:pPr>
            <a:r>
              <a:t>Password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78931" y="4983480"/>
            <a:ext cx="4155948" cy="320040"/>
          </a:xfrm>
          <a:prstGeom prst="roundRect">
            <a:avLst>
              <a:gd name="adj" fmla="val 12000"/>
            </a:avLst>
          </a:prstGeom>
          <a:solidFill>
            <a:srgbClr val="E9ECE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78931" y="5376672"/>
            <a:ext cx="4155948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1">
                <a:solidFill>
                  <a:srgbClr val="222930"/>
                </a:solidFill>
                <a:latin typeface="Aptos"/>
              </a:defRPr>
            </a:pPr>
            <a:r>
              <a:t>Confirm Password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78931" y="5596128"/>
            <a:ext cx="4155948" cy="320040"/>
          </a:xfrm>
          <a:prstGeom prst="roundRect">
            <a:avLst>
              <a:gd name="adj" fmla="val 12000"/>
            </a:avLst>
          </a:prstGeom>
          <a:solidFill>
            <a:srgbClr val="E9ECE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78931" y="6062472"/>
            <a:ext cx="4155948" cy="21945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77828B"/>
                </a:solidFill>
                <a:latin typeface="Aptos"/>
              </a:defRPr>
            </a:pPr>
            <a:r>
              <a:t>☐  Agree to terms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078931" y="6428232"/>
            <a:ext cx="4155948" cy="365760"/>
          </a:xfrm>
          <a:prstGeom prst="roundRect">
            <a:avLst>
              <a:gd name="adj" fmla="val 12000"/>
            </a:avLst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78931" y="6487668"/>
            <a:ext cx="4155948" cy="32918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Create Account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78931" y="6949440"/>
            <a:ext cx="4155948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900" b="0">
                <a:solidFill>
                  <a:srgbClr val="77828B"/>
                </a:solidFill>
                <a:latin typeface="Aptos"/>
              </a:defRPr>
            </a:pPr>
            <a:r>
              <a:t>Already have an account? Login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6072" y="6611112"/>
            <a:ext cx="8229600" cy="13716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0">
                <a:solidFill>
                  <a:srgbClr val="65717A"/>
                </a:solidFill>
                <a:latin typeface="Aptos"/>
              </a:defRPr>
            </a:pPr>
            <a:r>
              <a:t>FITTRACK / WIREFRAMES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822960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300" b="1">
                <a:solidFill>
                  <a:srgbClr val="1C252B"/>
                </a:solidFill>
                <a:latin typeface="Aptos"/>
              </a:defRPr>
            </a:pPr>
            <a:r>
              <a:t>Register  /  Mobile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292608"/>
            <a:ext cx="1737360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000" b="1">
                <a:solidFill>
                  <a:srgbClr val="5B6973"/>
                </a:solidFill>
                <a:latin typeface="Aptos"/>
              </a:defRPr>
            </a:pPr>
            <a:r>
              <a:t>AMMAR</a:t>
            </a:r>
          </a:p>
        </p:txBody>
      </p:sp>
      <p:sp>
        <p:nvSpPr>
          <p:cNvPr id="5" name="Rectangle 4"/>
          <p:cNvSpPr/>
          <p:nvPr/>
        </p:nvSpPr>
        <p:spPr>
          <a:xfrm>
            <a:off x="557784" y="722376"/>
            <a:ext cx="11082528" cy="22860"/>
          </a:xfrm>
          <a:prstGeom prst="rect">
            <a:avLst/>
          </a:prstGeom>
          <a:solidFill>
            <a:srgbClr val="B6B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51960" y="905256"/>
            <a:ext cx="3675887" cy="5650992"/>
          </a:xfrm>
          <a:prstGeom prst="roundRect">
            <a:avLst>
              <a:gd name="adj" fmla="val 12000"/>
            </a:avLst>
          </a:prstGeom>
          <a:solidFill>
            <a:srgbClr val="F5F6F7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34256" y="996696"/>
            <a:ext cx="3511295" cy="4297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1416" y="1097280"/>
            <a:ext cx="1645920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9AA3AA"/>
                </a:solidFill>
                <a:latin typeface="Aptos"/>
              </a:defRPr>
            </a:pPr>
            <a:r>
              <a:t>FitTrack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106424"/>
            <a:ext cx="310896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500" b="1">
                <a:solidFill>
                  <a:srgbClr val="222930"/>
                </a:solidFill>
                <a:latin typeface="Aptos"/>
              </a:defRPr>
            </a:pPr>
            <a:r>
              <a:t>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2907792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65727C"/>
                </a:solidFill>
                <a:latin typeface="Aptos"/>
              </a:defRPr>
            </a:pPr>
            <a:r>
              <a:t>MOBILE VERSION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11680"/>
            <a:ext cx="2926080" cy="10972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0">
                <a:solidFill>
                  <a:srgbClr val="64717B"/>
                </a:solidFill>
                <a:latin typeface="Aptos"/>
              </a:defRPr>
            </a:pPr>
            <a:r>
              <a:t>Single-column layout</a:t>
            </a:r>
          </a:p>
          <a:p>
            <a:pPr>
              <a:defRPr sz="1300" b="0">
                <a:solidFill>
                  <a:srgbClr val="64717B"/>
                </a:solidFill>
                <a:latin typeface="Aptos"/>
              </a:defRPr>
            </a:pPr>
            <a:r>
              <a:t>Touch-friendly controls</a:t>
            </a:r>
          </a:p>
          <a:p>
            <a:pPr>
              <a:defRPr sz="1300" b="0">
                <a:solidFill>
                  <a:srgbClr val="64717B"/>
                </a:solidFill>
                <a:latin typeface="Aptos"/>
              </a:defRPr>
            </a:pPr>
            <a:r>
              <a:t>Compact navigation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1463040"/>
            <a:ext cx="292608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65727C"/>
                </a:solidFill>
                <a:latin typeface="Aptos"/>
              </a:defRPr>
            </a:pPr>
            <a:r>
              <a:t>SCREEN CONTENT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94192" y="2011680"/>
            <a:ext cx="2788920" cy="11887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0">
                <a:solidFill>
                  <a:srgbClr val="64717B"/>
                </a:solidFill>
                <a:latin typeface="Aptos"/>
              </a:defRPr>
            </a:pPr>
            <a:r>
              <a:t>The same information is reorganized for small screens.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5696" y="1609344"/>
            <a:ext cx="2743200" cy="31089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222930"/>
                </a:solidFill>
                <a:latin typeface="Aptos"/>
              </a:defRPr>
            </a:pPr>
            <a:r>
              <a:t>Create Account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696" y="1984248"/>
            <a:ext cx="2834640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77828B"/>
                </a:solidFill>
                <a:latin typeface="Aptos"/>
              </a:defRPr>
            </a:pPr>
            <a:r>
              <a:t>Your FitTrack account.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696" y="2660904"/>
            <a:ext cx="3328415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1">
                <a:solidFill>
                  <a:srgbClr val="222930"/>
                </a:solidFill>
                <a:latin typeface="Aptos"/>
              </a:defRPr>
            </a:pPr>
            <a:r>
              <a:t>Full Name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25696" y="2907792"/>
            <a:ext cx="3328415" cy="365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3008376"/>
            <a:ext cx="3054096" cy="17373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77828B"/>
                </a:solidFill>
                <a:latin typeface="Aptos"/>
              </a:defRPr>
            </a:pPr>
            <a:r>
              <a:t>Enter full name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25696" y="3364992"/>
            <a:ext cx="3328415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1">
                <a:solidFill>
                  <a:srgbClr val="222930"/>
                </a:solidFill>
                <a:latin typeface="Aptos"/>
              </a:defRPr>
            </a:pPr>
            <a:r>
              <a:t>Email Address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25696" y="3611880"/>
            <a:ext cx="3328415" cy="365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3712464"/>
            <a:ext cx="3054096" cy="17373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77828B"/>
                </a:solidFill>
                <a:latin typeface="Aptos"/>
              </a:defRPr>
            </a:pPr>
            <a:r>
              <a:t>Enter email address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5696" y="4069080"/>
            <a:ext cx="3328415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1">
                <a:solidFill>
                  <a:srgbClr val="222930"/>
                </a:solidFill>
                <a:latin typeface="Aptos"/>
              </a:defRPr>
            </a:pPr>
            <a:r>
              <a:t>Password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25696" y="4315968"/>
            <a:ext cx="3328415" cy="365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3712" y="4416552"/>
            <a:ext cx="3054096" cy="17373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77828B"/>
                </a:solidFill>
                <a:latin typeface="Aptos"/>
              </a:defRPr>
            </a:pPr>
            <a:r>
              <a:t>Enter password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5696" y="4773168"/>
            <a:ext cx="3328415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1">
                <a:solidFill>
                  <a:srgbClr val="222930"/>
                </a:solidFill>
                <a:latin typeface="Aptos"/>
              </a:defRPr>
            </a:pPr>
            <a:r>
              <a:t>Confirm Password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25696" y="5020056"/>
            <a:ext cx="3328415" cy="365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C6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53712" y="5120640"/>
            <a:ext cx="3054096" cy="17373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77828B"/>
                </a:solidFill>
                <a:latin typeface="Aptos"/>
              </a:defRPr>
            </a:pPr>
            <a:r>
              <a:t>Enter confirm password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25696" y="5477256"/>
            <a:ext cx="3328415" cy="25603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77828B"/>
                </a:solidFill>
                <a:latin typeface="Aptos"/>
              </a:defRPr>
            </a:pPr>
            <a:r>
              <a:t>☐  Agree to terms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25696" y="5879592"/>
            <a:ext cx="3328415" cy="402336"/>
          </a:xfrm>
          <a:prstGeom prst="roundRect">
            <a:avLst>
              <a:gd name="adj" fmla="val 12000"/>
            </a:avLst>
          </a:prstGeom>
          <a:solidFill>
            <a:srgbClr val="9AA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25696" y="5939028"/>
            <a:ext cx="3328415" cy="36576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Create Account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25696" y="6437376"/>
            <a:ext cx="3328415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0">
                <a:solidFill>
                  <a:srgbClr val="77828B"/>
                </a:solidFill>
                <a:latin typeface="Aptos"/>
              </a:defRPr>
            </a:pPr>
            <a:r>
              <a:t>Already a member? Login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6072" y="6611112"/>
            <a:ext cx="8229600" cy="13716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0">
                <a:solidFill>
                  <a:srgbClr val="65717A"/>
                </a:solidFill>
                <a:latin typeface="Aptos"/>
              </a:defRPr>
            </a:pPr>
            <a:r>
              <a:t>FITTRACK / WIREFRAMES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